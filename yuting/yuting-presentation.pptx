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雨停｜校园走廊雨伞收纳与沥水装置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设计任务：给教室门外的湿伞一个位置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问题场景：随手一放，影响不止一把伞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使用旅程：从收伞，到取伞，再到清理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调研计划：先把关键未知变成证据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现有解法：对照四种结构类型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需求转译：把“整齐”拆成可验证目标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概念发散：三种产品路径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方案筛选：优先验证 B 方案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推荐方案：雨停 YUTING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基本尺寸：先建立可打样的尺度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结构拆解：把易脏部件做成可取出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关键细节：限位、连接和防倾倒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沥水逻辑：水往下走，维护向前做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交互流程：学生三步，保洁一套动作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造型、材料与人机：安静融入校园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空间布置：模块数量由峰值决定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打样与成本：先做一台可验证模型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验证计划：用试验决定下一版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推进计划：从概念到可评审的初样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调研附件：可直接带到现场使用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方案状态、资料依据与下一步</a:t>
            </a:r>
          </a:p>
          <a:p>
            <a:r>
              <a:t>概念阶段V1.0。尺寸、容量、预算、评分及测试阈值均为拟定值，需现场调研与模型验证。</a:t>
            </a:r>
          </a:p>
          <a:p>
            <a:r>
              <a:t>文字、表格与线图可编辑；AI辅助产品效果图为嵌入位图。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3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805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5" y="0"/>
            <a:ext cx="766762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4629150" cy="6858000"/>
          </a:xfrm>
          <a:prstGeom prst="rect">
            <a:avLst/>
          </a:prstGeom>
          <a:solidFill>
            <a:srgbClr val="183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3874" y="485775"/>
            <a:ext cx="383857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2D1C1"/>
                </a:solidFill>
                <a:latin typeface="Microsoft YaHei"/>
                <a:ea typeface="Microsoft YaHei"/>
              </a:rPr>
              <a:t>INDUSTRIAL DESIGN  /  CONCEPT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1343025"/>
            <a:ext cx="3933824" cy="12087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917"/>
              </a:lnSpc>
              <a:spcBef>
                <a:spcPts val="0"/>
              </a:spcBef>
              <a:spcAft>
                <a:spcPts val="0"/>
              </a:spcAft>
            </a:pPr>
            <a:r>
              <a:rPr sz="6150" b="1">
                <a:solidFill>
                  <a:srgbClr val="FFFFFF"/>
                </a:solidFill>
                <a:latin typeface="Microsoft YaHei"/>
                <a:ea typeface="Microsoft YaHei"/>
              </a:rPr>
              <a:t>雨停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352675"/>
            <a:ext cx="3695700" cy="9877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</a:rPr>
              <a:t>让湿伞有处停放，</a:t>
            </a:r>
          </a:p>
          <a:p>
            <a:pPr algn="l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</a:rPr>
              <a:t>让走廊保持有序。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3524250"/>
            <a:ext cx="3467100" cy="0"/>
          </a:xfrm>
          <a:prstGeom prst="line">
            <a:avLst/>
          </a:prstGeom>
          <a:ln w="9525">
            <a:solidFill>
              <a:srgbClr val="5C7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3400" y="3829050"/>
            <a:ext cx="3457575" cy="807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DE6D8"/>
                </a:solidFill>
                <a:latin typeface="Microsoft YaHei"/>
                <a:ea typeface="Microsoft YaHei"/>
              </a:rPr>
              <a:t>校园走廊模块化</a:t>
            </a:r>
          </a:p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DE6D8"/>
                </a:solidFill>
                <a:latin typeface="Microsoft YaHei"/>
                <a:ea typeface="Microsoft YaHei"/>
              </a:rPr>
              <a:t>雨伞收纳与沥水装置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905375"/>
            <a:ext cx="33623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C2D1C1"/>
                </a:solidFill>
                <a:latin typeface="Microsoft YaHei"/>
                <a:ea typeface="Microsoft YaHei"/>
              </a:rPr>
              <a:t>工业设计实训 · 初期方案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295900"/>
            <a:ext cx="3457575" cy="5562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2D1C1"/>
                </a:solidFill>
                <a:latin typeface="Microsoft YaHei"/>
                <a:ea typeface="Microsoft YaHei"/>
              </a:rPr>
              <a:t>姓名：________    班级：________</a:t>
            </a:r>
          </a:p>
          <a:p>
            <a:pPr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2D1C1"/>
                </a:solidFill>
                <a:latin typeface="Microsoft YaHei"/>
                <a:ea typeface="Microsoft YaHei"/>
              </a:rPr>
              <a:t>指导教师：________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315075"/>
            <a:ext cx="336232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C2D1C1"/>
                </a:solidFill>
                <a:latin typeface="Microsoft YaHei"/>
                <a:ea typeface="Microsoft YaHei"/>
              </a:rPr>
              <a:t>V1.0  /  2026.10.24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8600" y="6276975"/>
            <a:ext cx="3905249" cy="32385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1949" y="6353175"/>
            <a:ext cx="37242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223C36"/>
                </a:solidFill>
                <a:latin typeface="Microsoft YaHei"/>
                <a:ea typeface="Microsoft YaHei"/>
              </a:rPr>
              <a:t>AI辅助概念效果图 · 比例与细节以结构图为准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01 / DESIGN BRIEF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设计任务：给教室门外的湿伞一个位置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从校园公共空间的具体行为出发，设计可存取、可接水、可维护的实体产品。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19275"/>
            <a:ext cx="3495675" cy="2466975"/>
          </a:xfrm>
          <a:prstGeom prst="roundRect">
            <a:avLst>
              <a:gd name="adj" fmla="val 5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1990725"/>
            <a:ext cx="310515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01  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324100"/>
            <a:ext cx="310515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教室门外的短时存伞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781300"/>
            <a:ext cx="3105150" cy="822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雨天到课后临时放伞，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下课后集中取回。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首期聚焦有遮蔽的室内走廊。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1950" y="1819275"/>
            <a:ext cx="3495675" cy="2466975"/>
          </a:xfrm>
          <a:prstGeom prst="roundRect">
            <a:avLst>
              <a:gd name="adj" fmla="val 5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1500" y="1990725"/>
            <a:ext cx="310515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02  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1500" y="2324100"/>
            <a:ext cx="310515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学生 + 保洁 + 管理者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2781300"/>
            <a:ext cx="3105150" cy="822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学生希望放取顺手；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保洁需要方便倾倒和清洗；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管理者关注通行与稳定性。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9550" y="1819275"/>
            <a:ext cx="3848099" cy="2466975"/>
          </a:xfrm>
          <a:prstGeom prst="roundRect">
            <a:avLst>
              <a:gd name="adj" fmla="val 57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9099" y="1990725"/>
            <a:ext cx="34575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03  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9099" y="2324100"/>
            <a:ext cx="3457575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一款非电动公共产品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099" y="2781300"/>
            <a:ext cx="3457575" cy="8220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6个长伞位 + 4个短伞位；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可拆短伞篮、抽拉接水盘；</a:t>
            </a:r>
          </a:p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单元并排连接、后部防倾倒。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350" y="4505325"/>
            <a:ext cx="11163300" cy="1238250"/>
          </a:xfrm>
          <a:prstGeom prst="roundRect">
            <a:avLst>
              <a:gd name="adj" fmla="val 9230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425" y="4686300"/>
            <a:ext cx="19335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6F8976"/>
                </a:solidFill>
                <a:latin typeface="Microsoft YaHei"/>
                <a:ea typeface="Microsoft YaHei"/>
              </a:rPr>
              <a:t>设计命题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5029200"/>
            <a:ext cx="10601325" cy="711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如何在有限的走廊边缘空间内，让长短湿伞被快速、有序地存放，</a:t>
            </a:r>
          </a:p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同时把滴水留在可清理的容器中？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范围：自有雨伞临时收纳；暂不加入电子锁、烘干、共享借伞和联网功能。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02 / CONTEXT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问题场景：随手一放，影响不止一把伞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用户提出的真实问题方向：下雨天，雨伞在走廊处随意摆放。其余影响为待验证假设。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52600"/>
            <a:ext cx="6953250" cy="3943350"/>
          </a:xfrm>
          <a:prstGeom prst="roundRect">
            <a:avLst>
              <a:gd name="adj" fmla="val 2898"/>
            </a:avLst>
          </a:prstGeom>
          <a:solidFill>
            <a:srgbClr val="E6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62000" y="4381500"/>
            <a:ext cx="6419850" cy="1047750"/>
          </a:xfrm>
          <a:custGeom>
            <a:avLst/>
            <a:gdLst/>
            <a:ahLst/>
            <a:cxnLst/>
            <a:rect l="l" t="t" r="r" b="b"/>
            <a:pathLst>
              <a:path w="674" h="110">
                <a:moveTo>
                  <a:pt x="0" y="0"/>
                </a:moveTo>
                <a:lnTo>
                  <a:pt x="674" y="0"/>
                </a:lnTo>
                <a:lnTo>
                  <a:pt x="674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D8D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2133600"/>
            <a:ext cx="1524000" cy="2257425"/>
          </a:xfrm>
          <a:prstGeom prst="roundRect">
            <a:avLst>
              <a:gd name="adj" fmla="val 1250"/>
            </a:avLst>
          </a:prstGeom>
          <a:solidFill>
            <a:srgbClr val="CFD7C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3425" y="2286000"/>
            <a:ext cx="1209675" cy="2057400"/>
          </a:xfrm>
          <a:prstGeom prst="roundRect">
            <a:avLst>
              <a:gd name="adj" fmla="val 1574"/>
            </a:avLst>
          </a:prstGeom>
          <a:solidFill>
            <a:srgbClr val="EDEEE6"/>
          </a:solidFill>
          <a:ln w="9525">
            <a:solidFill>
              <a:srgbClr val="D9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8200" y="2428875"/>
            <a:ext cx="1076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教室入口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7749" y="4371975"/>
            <a:ext cx="6057901" cy="0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reeform 16"/>
          <p:cNvSpPr/>
          <p:nvPr/>
        </p:nvSpPr>
        <p:spPr>
          <a:xfrm>
            <a:off x="1390650" y="3267075"/>
            <a:ext cx="266700" cy="1143000"/>
          </a:xfrm>
          <a:custGeom>
            <a:avLst/>
            <a:gdLst/>
            <a:ahLst/>
            <a:cxnLst/>
            <a:rect l="l" t="t" r="r" b="b"/>
            <a:pathLst>
              <a:path w="28" h="120">
                <a:moveTo>
                  <a:pt x="0" y="0"/>
                </a:moveTo>
                <a:lnTo>
                  <a:pt x="18" y="0"/>
                </a:lnTo>
                <a:lnTo>
                  <a:pt x="28" y="108"/>
                </a:lnTo>
                <a:lnTo>
                  <a:pt x="24" y="120"/>
                </a:lnTo>
                <a:lnTo>
                  <a:pt x="20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1476375" y="31051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76375" y="31051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71625" y="310515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095500" y="3267075"/>
            <a:ext cx="295275" cy="1143000"/>
          </a:xfrm>
          <a:custGeom>
            <a:avLst/>
            <a:gdLst/>
            <a:ahLst/>
            <a:cxnLst/>
            <a:rect l="l" t="t" r="r" b="b"/>
            <a:pathLst>
              <a:path w="31" h="120">
                <a:moveTo>
                  <a:pt x="13" y="0"/>
                </a:moveTo>
                <a:lnTo>
                  <a:pt x="31" y="0"/>
                </a:lnTo>
                <a:lnTo>
                  <a:pt x="8" y="108"/>
                </a:lnTo>
                <a:lnTo>
                  <a:pt x="4" y="120"/>
                </a:lnTo>
                <a:lnTo>
                  <a:pt x="0" y="108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2305050" y="3105150"/>
            <a:ext cx="0" cy="161925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05050" y="3105150"/>
            <a:ext cx="95250" cy="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00300" y="3105150"/>
            <a:ext cx="0" cy="11430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2343150" y="3267075"/>
            <a:ext cx="361950" cy="1143000"/>
          </a:xfrm>
          <a:custGeom>
            <a:avLst/>
            <a:gdLst/>
            <a:ahLst/>
            <a:cxnLst/>
            <a:rect l="l" t="t" r="r" b="b"/>
            <a:pathLst>
              <a:path w="38" h="120">
                <a:moveTo>
                  <a:pt x="0" y="0"/>
                </a:moveTo>
                <a:lnTo>
                  <a:pt x="18" y="0"/>
                </a:lnTo>
                <a:lnTo>
                  <a:pt x="38" y="108"/>
                </a:lnTo>
                <a:lnTo>
                  <a:pt x="34" y="120"/>
                </a:lnTo>
                <a:lnTo>
                  <a:pt x="30" y="108"/>
                </a:lnTo>
                <a:close/>
              </a:path>
            </a:pathLst>
          </a:custGeom>
          <a:solidFill>
            <a:srgbClr val="A38D75"/>
          </a:solidFill>
          <a:ln w="9525">
            <a:solidFill>
              <a:srgbClr val="A38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2428875" y="3105150"/>
            <a:ext cx="0" cy="161925"/>
          </a:xfrm>
          <a:prstGeom prst="line">
            <a:avLst/>
          </a:prstGeom>
          <a:ln w="28575">
            <a:solidFill>
              <a:srgbClr val="A38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28875" y="3105150"/>
            <a:ext cx="95250" cy="0"/>
          </a:xfrm>
          <a:prstGeom prst="line">
            <a:avLst/>
          </a:prstGeom>
          <a:ln w="28575">
            <a:solidFill>
              <a:srgbClr val="A38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24125" y="3105150"/>
            <a:ext cx="0" cy="114300"/>
          </a:xfrm>
          <a:prstGeom prst="line">
            <a:avLst/>
          </a:prstGeom>
          <a:ln w="28575">
            <a:solidFill>
              <a:srgbClr val="A38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3486150" y="4362450"/>
            <a:ext cx="542925" cy="923925"/>
          </a:xfrm>
          <a:custGeom>
            <a:avLst/>
            <a:gdLst/>
            <a:ahLst/>
            <a:cxnLst/>
            <a:rect l="l" t="t" r="r" b="b"/>
            <a:pathLst>
              <a:path w="57" h="97">
                <a:moveTo>
                  <a:pt x="41" y="0"/>
                </a:moveTo>
                <a:lnTo>
                  <a:pt x="57" y="0"/>
                </a:lnTo>
                <a:lnTo>
                  <a:pt x="8" y="85"/>
                </a:lnTo>
                <a:lnTo>
                  <a:pt x="4" y="97"/>
                </a:lnTo>
                <a:lnTo>
                  <a:pt x="0" y="85"/>
                </a:lnTo>
                <a:close/>
              </a:path>
            </a:pathLst>
          </a:custGeom>
          <a:solidFill>
            <a:srgbClr val="68766F"/>
          </a:solidFill>
          <a:ln w="9525">
            <a:solidFill>
              <a:srgbClr val="68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3952875" y="4200525"/>
            <a:ext cx="0" cy="161925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52875" y="4200525"/>
            <a:ext cx="95249" cy="0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48124" y="4200525"/>
            <a:ext cx="0" cy="114300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1666875" y="4686300"/>
            <a:ext cx="95250" cy="161925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5" y="0"/>
                </a:moveTo>
                <a:lnTo>
                  <a:pt x="0" y="9"/>
                </a:lnTo>
                <a:lnTo>
                  <a:pt x="0" y="13"/>
                </a:lnTo>
                <a:lnTo>
                  <a:pt x="5" y="17"/>
                </a:lnTo>
                <a:lnTo>
                  <a:pt x="10" y="13"/>
                </a:lnTo>
                <a:lnTo>
                  <a:pt x="10" y="9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143125" y="4686300"/>
            <a:ext cx="95250" cy="161925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5" y="0"/>
                </a:moveTo>
                <a:lnTo>
                  <a:pt x="0" y="9"/>
                </a:lnTo>
                <a:lnTo>
                  <a:pt x="0" y="13"/>
                </a:lnTo>
                <a:lnTo>
                  <a:pt x="5" y="17"/>
                </a:lnTo>
                <a:lnTo>
                  <a:pt x="10" y="13"/>
                </a:lnTo>
                <a:lnTo>
                  <a:pt x="10" y="9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571750" y="4686300"/>
            <a:ext cx="95250" cy="161925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5" y="0"/>
                </a:moveTo>
                <a:lnTo>
                  <a:pt x="0" y="9"/>
                </a:lnTo>
                <a:lnTo>
                  <a:pt x="0" y="13"/>
                </a:lnTo>
                <a:lnTo>
                  <a:pt x="5" y="17"/>
                </a:lnTo>
                <a:lnTo>
                  <a:pt x="10" y="13"/>
                </a:lnTo>
                <a:lnTo>
                  <a:pt x="10" y="9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476625" y="4686300"/>
            <a:ext cx="95250" cy="161925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5" y="0"/>
                </a:moveTo>
                <a:lnTo>
                  <a:pt x="0" y="9"/>
                </a:lnTo>
                <a:lnTo>
                  <a:pt x="0" y="13"/>
                </a:lnTo>
                <a:lnTo>
                  <a:pt x="5" y="17"/>
                </a:lnTo>
                <a:lnTo>
                  <a:pt x="10" y="13"/>
                </a:lnTo>
                <a:lnTo>
                  <a:pt x="10" y="9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048125" y="4686300"/>
            <a:ext cx="95250" cy="161925"/>
          </a:xfrm>
          <a:custGeom>
            <a:avLst/>
            <a:gdLst/>
            <a:ahLst/>
            <a:cxnLst/>
            <a:rect l="l" t="t" r="r" b="b"/>
            <a:pathLst>
              <a:path w="10" h="17">
                <a:moveTo>
                  <a:pt x="5" y="0"/>
                </a:moveTo>
                <a:lnTo>
                  <a:pt x="0" y="9"/>
                </a:lnTo>
                <a:lnTo>
                  <a:pt x="0" y="13"/>
                </a:lnTo>
                <a:lnTo>
                  <a:pt x="5" y="17"/>
                </a:lnTo>
                <a:lnTo>
                  <a:pt x="10" y="13"/>
                </a:lnTo>
                <a:lnTo>
                  <a:pt x="10" y="9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73723" y="3220974"/>
            <a:ext cx="187452" cy="187452"/>
          </a:xfrm>
          <a:prstGeom prst="ellipse">
            <a:avLst/>
          </a:prstGeom>
          <a:solidFill>
            <a:srgbClr val="68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6267450" y="3470909"/>
            <a:ext cx="0" cy="421768"/>
          </a:xfrm>
          <a:prstGeom prst="line">
            <a:avLst/>
          </a:prstGeom>
          <a:ln w="62484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072187" y="3603688"/>
            <a:ext cx="195263" cy="218694"/>
          </a:xfrm>
          <a:prstGeom prst="line">
            <a:avLst/>
          </a:prstGeom>
          <a:ln w="39052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67450" y="3603688"/>
            <a:ext cx="187451" cy="179642"/>
          </a:xfrm>
          <a:prstGeom prst="line">
            <a:avLst/>
          </a:prstGeom>
          <a:ln w="39052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6111240" y="3877056"/>
            <a:ext cx="156210" cy="335851"/>
          </a:xfrm>
          <a:prstGeom prst="line">
            <a:avLst/>
          </a:prstGeom>
          <a:ln w="468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267450" y="3877056"/>
            <a:ext cx="140589" cy="335851"/>
          </a:xfrm>
          <a:prstGeom prst="line">
            <a:avLst/>
          </a:prstGeom>
          <a:ln w="468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095875" y="4895850"/>
            <a:ext cx="1266825" cy="0"/>
          </a:xfrm>
          <a:prstGeom prst="line">
            <a:avLst/>
          </a:prstGeom>
          <a:ln w="28575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5095875" y="4857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4"/>
                </a:moveTo>
                <a:lnTo>
                  <a:pt x="8" y="0"/>
                </a:lnTo>
                <a:lnTo>
                  <a:pt x="8" y="8"/>
                </a:lnTo>
                <a:close/>
              </a:path>
            </a:pathLst>
          </a:custGeom>
          <a:solidFill>
            <a:srgbClr val="B66F45"/>
          </a:solidFill>
          <a:ln w="9525">
            <a:solidFill>
              <a:srgbClr val="B66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95400" y="2895600"/>
            <a:ext cx="285750" cy="285750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62075" y="2933700"/>
            <a:ext cx="180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48" name="Oval 47"/>
          <p:cNvSpPr/>
          <p:nvPr/>
        </p:nvSpPr>
        <p:spPr>
          <a:xfrm>
            <a:off x="2809875" y="4705350"/>
            <a:ext cx="285750" cy="285750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6550" y="4743450"/>
            <a:ext cx="180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0" name="Oval 49"/>
          <p:cNvSpPr/>
          <p:nvPr/>
        </p:nvSpPr>
        <p:spPr>
          <a:xfrm>
            <a:off x="4876800" y="4476750"/>
            <a:ext cx="285750" cy="285750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43475" y="4514850"/>
            <a:ext cx="180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8600" y="1809750"/>
            <a:ext cx="5048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66F4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58175" y="1809750"/>
            <a:ext cx="3362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靠墙倒伏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58175" y="2219325"/>
            <a:ext cx="32670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缺少明确的限位与支撑。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48600" y="3009900"/>
            <a:ext cx="5048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66F4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8175" y="3009900"/>
            <a:ext cx="3362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地面滴水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58175" y="3419475"/>
            <a:ext cx="32670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湿伞水滴可能扩散至行走区域。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48600" y="4210050"/>
            <a:ext cx="5048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B66F4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8175" y="4210050"/>
            <a:ext cx="3362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取放混乱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58175" y="4619625"/>
            <a:ext cx="32670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高峰时集中找伞，可能挡住入口。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图示为设计情境示意，非学校现场照片；需用实际观察确认发生频次与影响程度。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03 / USER JOURNEY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使用旅程：从收伞，到取伞，再到清理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把“存得下”扩展为“愿意用、拿得回、清得掉”的完整流程。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85950"/>
            <a:ext cx="2095499" cy="35052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275" y="2047875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950" y="2095499"/>
            <a:ext cx="247649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619375"/>
            <a:ext cx="1704975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到达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1051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在门前收伞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648075"/>
            <a:ext cx="17049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手持物品多，停留时间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3900" y="4324350"/>
            <a:ext cx="1666875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3900" y="45529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入口可见，一眼理解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19375" y="2219325"/>
            <a:ext cx="133350" cy="0"/>
          </a:xfrm>
          <a:prstGeom prst="line">
            <a:avLst/>
          </a:prstGeom>
          <a:ln w="19050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2676525" y="2181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1300" y="1885950"/>
            <a:ext cx="2095499" cy="35052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43225" y="2047875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09900" y="2095499"/>
            <a:ext cx="247649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850" y="2619375"/>
            <a:ext cx="1704975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存放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850" y="31051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寻找空位放伞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850" y="3648075"/>
            <a:ext cx="17049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长短伞不适配、伞会滑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90850" y="4324350"/>
            <a:ext cx="1666875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90850" y="45529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分区收纳、前开口限位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6325" y="2219325"/>
            <a:ext cx="133350" cy="0"/>
          </a:xfrm>
          <a:prstGeom prst="line">
            <a:avLst/>
          </a:prstGeom>
          <a:ln w="19050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4943475" y="2181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48250" y="1885950"/>
            <a:ext cx="2095499" cy="35052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10175" y="2047875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76850" y="2095499"/>
            <a:ext cx="247649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619375"/>
            <a:ext cx="1704975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上课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1051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雨伞留在走廊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3648075"/>
            <a:ext cx="17049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持续滴水、同色伞难分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57800" y="4324350"/>
            <a:ext cx="1666875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57800" y="45529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集中接水、位置编号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53275" y="2219325"/>
            <a:ext cx="133350" cy="0"/>
          </a:xfrm>
          <a:prstGeom prst="line">
            <a:avLst/>
          </a:prstGeom>
          <a:ln w="19050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7210425" y="2181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0" y="1885950"/>
            <a:ext cx="2095499" cy="35052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77125" y="2047875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2095499"/>
            <a:ext cx="247649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24749" y="2619375"/>
            <a:ext cx="1704975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取回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24749" y="31051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下课集中拿伞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4749" y="3648075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相邻伞干涉、取伞排队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524749" y="4324350"/>
            <a:ext cx="1666876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524749" y="4552950"/>
            <a:ext cx="17049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伞柄外露、可从正面取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出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420225" y="2219325"/>
            <a:ext cx="133350" cy="0"/>
          </a:xfrm>
          <a:prstGeom prst="line">
            <a:avLst/>
          </a:prstGeom>
          <a:ln w="19050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9477375" y="2181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82150" y="1885950"/>
            <a:ext cx="2095499" cy="35052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744075" y="2047875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10750" y="2095499"/>
            <a:ext cx="247649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1700" y="2619375"/>
            <a:ext cx="1704975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维护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91700" y="31051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倒水并擦洗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91700" y="3648075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容器过深、积水难清理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791700" y="4324350"/>
            <a:ext cx="1666875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791700" y="4552950"/>
            <a:ext cx="170497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F8976"/>
                </a:solidFill>
                <a:latin typeface="Microsoft YaHei"/>
                <a:ea typeface="Microsoft YaHei"/>
              </a:rPr>
              <a:t>浅篮可取、接水盘可抽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待访谈确认：学生是否愿意将伞留在教室外；若普遍不愿意，需调整场景而非增加功能。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04 / RESEARCH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调研计划：先把关键未知变成证据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以下为拟开展的方法、样本与记录字段；目前未实际发放问卷或开展访谈。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1847850"/>
            <a:ext cx="1786128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943100"/>
            <a:ext cx="1586103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0478" y="1847850"/>
            <a:ext cx="3125724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778" y="1943100"/>
            <a:ext cx="292569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拟定样本 / 操作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26202" y="1847850"/>
            <a:ext cx="4018787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0502" y="1943100"/>
            <a:ext cx="3818762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重点记录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44990" y="1847850"/>
            <a:ext cx="2232660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9290" y="1943100"/>
            <a:ext cx="203263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对应决策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2257425"/>
            <a:ext cx="1786128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2362200"/>
            <a:ext cx="1586103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雨天观察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0478" y="2257425"/>
            <a:ext cx="3125724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778" y="2362200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2处教室入口 × 2次雨天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6202" y="2257425"/>
            <a:ext cx="4018787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40502" y="2362200"/>
            <a:ext cx="3818762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到课/下课各20分钟；每5分钟计数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990" y="2257425"/>
            <a:ext cx="22326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9290" y="2362200"/>
            <a:ext cx="203263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真实容量与峰值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350" y="2886075"/>
            <a:ext cx="1786128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650" y="2990850"/>
            <a:ext cx="1586103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学生访谈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0478" y="2886075"/>
            <a:ext cx="3125724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14778" y="2990850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6–8人，覆盖长伞与折叠伞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6202" y="2886075"/>
            <a:ext cx="4018787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0502" y="2990850"/>
            <a:ext cx="3818762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存放原因、担忧、取放动作、伞具尺寸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4990" y="2886075"/>
            <a:ext cx="2232660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9290" y="2990850"/>
            <a:ext cx="203263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分区与识别方式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350" y="3514725"/>
            <a:ext cx="1786128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619500"/>
            <a:ext cx="1586103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保洁访谈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0478" y="3514725"/>
            <a:ext cx="3125724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14778" y="3619500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2–3位实际维护人员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26202" y="3514725"/>
            <a:ext cx="4018787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40502" y="3619500"/>
            <a:ext cx="3818762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清理时段、可接受提水重量、倒水位置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44990" y="3514725"/>
            <a:ext cx="22326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9290" y="3619500"/>
            <a:ext cx="203263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接水盘与维护频率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350" y="4143375"/>
            <a:ext cx="1786128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650" y="4248150"/>
            <a:ext cx="1586103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空间测量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0478" y="4143375"/>
            <a:ext cx="3125724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14778" y="4248150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2处候选点位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202" y="4143375"/>
            <a:ext cx="4018787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40502" y="4248150"/>
            <a:ext cx="3818762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门扇开启、走廊净宽、凹位、墙体条件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44990" y="4143375"/>
            <a:ext cx="2232660" cy="6286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9290" y="4248150"/>
            <a:ext cx="203263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布置与防倾倒方式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350" y="4772025"/>
            <a:ext cx="1786128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650" y="4876800"/>
            <a:ext cx="1586103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伞具采样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0478" y="4772025"/>
            <a:ext cx="3125724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14778" y="4876800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至少12把不同规格雨伞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26202" y="4772025"/>
            <a:ext cx="4018787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0502" y="4876800"/>
            <a:ext cx="3818762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收合长/宽、伞柄、尖端、湿态滴水量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44990" y="4772025"/>
            <a:ext cx="2232660" cy="6286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59290" y="4876800"/>
            <a:ext cx="203263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卡口间距与篮深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记录应征得同意；照片避免可识别的人脸。便利样本只支持初步设计，不直接代表全校。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05 / TYPOLOGY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现有解法：对照四种结构类型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结构类型比较为设计分析，不是品牌实测或市场统计；需在后续补充实物对照。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11" name="Freeform 10"/>
          <p:cNvSpPr/>
          <p:nvPr/>
        </p:nvSpPr>
        <p:spPr>
          <a:xfrm>
            <a:off x="1390650" y="1952625"/>
            <a:ext cx="685800" cy="828675"/>
          </a:xfrm>
          <a:custGeom>
            <a:avLst/>
            <a:gdLst/>
            <a:ahLst/>
            <a:cxnLst/>
            <a:rect l="l" t="t" r="r" b="b"/>
            <a:pathLst>
              <a:path w="72" h="87">
                <a:moveTo>
                  <a:pt x="0" y="0"/>
                </a:moveTo>
                <a:lnTo>
                  <a:pt x="72" y="0"/>
                </a:lnTo>
                <a:lnTo>
                  <a:pt x="62" y="87"/>
                </a:lnTo>
                <a:lnTo>
                  <a:pt x="10" y="87"/>
                </a:lnTo>
                <a:close/>
              </a:path>
            </a:pathLst>
          </a:custGeom>
          <a:solidFill>
            <a:srgbClr val="6F8976"/>
          </a:solidFill>
          <a:ln w="1905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00200" y="1847850"/>
            <a:ext cx="114300" cy="619125"/>
          </a:xfrm>
          <a:custGeom>
            <a:avLst/>
            <a:gdLst/>
            <a:ahLst/>
            <a:cxnLst/>
            <a:rect l="l" t="t" r="r" b="b"/>
            <a:pathLst>
              <a:path w="12" h="65">
                <a:moveTo>
                  <a:pt x="0" y="0"/>
                </a:moveTo>
                <a:lnTo>
                  <a:pt x="12" y="0"/>
                </a:lnTo>
                <a:lnTo>
                  <a:pt x="10" y="53"/>
                </a:lnTo>
                <a:lnTo>
                  <a:pt x="6" y="65"/>
                </a:lnTo>
                <a:lnTo>
                  <a:pt x="2" y="53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1657350" y="1685925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57350" y="1685925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52600" y="1685925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7250" y="3000375"/>
            <a:ext cx="19335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桶式伞筒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3343275"/>
            <a:ext cx="19335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集中投放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19549" y="2305050"/>
            <a:ext cx="1143000" cy="114300"/>
          </a:xfrm>
          <a:prstGeom prst="roundRect">
            <a:avLst>
              <a:gd name="adj" fmla="val 25000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067175" y="2419350"/>
            <a:ext cx="0" cy="4191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14925" y="2419350"/>
            <a:ext cx="0" cy="4191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4191000" y="1971675"/>
            <a:ext cx="133350" cy="809625"/>
          </a:xfrm>
          <a:custGeom>
            <a:avLst/>
            <a:gdLst/>
            <a:ahLst/>
            <a:cxnLst/>
            <a:rect l="l" t="t" r="r" b="b"/>
            <a:pathLst>
              <a:path w="14" h="85">
                <a:moveTo>
                  <a:pt x="0" y="0"/>
                </a:moveTo>
                <a:lnTo>
                  <a:pt x="14" y="0"/>
                </a:lnTo>
                <a:lnTo>
                  <a:pt x="11" y="73"/>
                </a:lnTo>
                <a:lnTo>
                  <a:pt x="7" y="85"/>
                </a:lnTo>
                <a:lnTo>
                  <a:pt x="3" y="73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4257675" y="18097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7675" y="18097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52925" y="1809750"/>
            <a:ext cx="0" cy="114299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4524375" y="1971675"/>
            <a:ext cx="133350" cy="809625"/>
          </a:xfrm>
          <a:custGeom>
            <a:avLst/>
            <a:gdLst/>
            <a:ahLst/>
            <a:cxnLst/>
            <a:rect l="l" t="t" r="r" b="b"/>
            <a:pathLst>
              <a:path w="14" h="85">
                <a:moveTo>
                  <a:pt x="0" y="0"/>
                </a:moveTo>
                <a:lnTo>
                  <a:pt x="14" y="0"/>
                </a:lnTo>
                <a:lnTo>
                  <a:pt x="11" y="73"/>
                </a:lnTo>
                <a:lnTo>
                  <a:pt x="7" y="85"/>
                </a:lnTo>
                <a:lnTo>
                  <a:pt x="3" y="73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4591050" y="18097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91050" y="18097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86300" y="1809750"/>
            <a:ext cx="0" cy="114299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4857750" y="1971675"/>
            <a:ext cx="133350" cy="809625"/>
          </a:xfrm>
          <a:custGeom>
            <a:avLst/>
            <a:gdLst/>
            <a:ahLst/>
            <a:cxnLst/>
            <a:rect l="l" t="t" r="r" b="b"/>
            <a:pathLst>
              <a:path w="14" h="85">
                <a:moveTo>
                  <a:pt x="0" y="0"/>
                </a:moveTo>
                <a:lnTo>
                  <a:pt x="14" y="0"/>
                </a:lnTo>
                <a:lnTo>
                  <a:pt x="11" y="73"/>
                </a:lnTo>
                <a:lnTo>
                  <a:pt x="7" y="85"/>
                </a:lnTo>
                <a:lnTo>
                  <a:pt x="3" y="73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4924425" y="18097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924425" y="18097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19675" y="1809750"/>
            <a:ext cx="0" cy="114299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714750" y="3000375"/>
            <a:ext cx="19335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插孔伞架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4750" y="3343275"/>
            <a:ext cx="19335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长伞分位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15150" y="1762125"/>
            <a:ext cx="0" cy="1076325"/>
          </a:xfrm>
          <a:prstGeom prst="line">
            <a:avLst/>
          </a:prstGeom>
          <a:ln w="3810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34200" y="2028825"/>
            <a:ext cx="971550" cy="142875"/>
          </a:xfrm>
          <a:prstGeom prst="roundRect">
            <a:avLst>
              <a:gd name="adj" fmla="val 20000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124700" y="2047875"/>
            <a:ext cx="133350" cy="742950"/>
          </a:xfrm>
          <a:custGeom>
            <a:avLst/>
            <a:gdLst/>
            <a:ahLst/>
            <a:cxnLst/>
            <a:rect l="l" t="t" r="r" b="b"/>
            <a:pathLst>
              <a:path w="14" h="78">
                <a:moveTo>
                  <a:pt x="0" y="0"/>
                </a:moveTo>
                <a:lnTo>
                  <a:pt x="14" y="0"/>
                </a:lnTo>
                <a:lnTo>
                  <a:pt x="11" y="66"/>
                </a:lnTo>
                <a:lnTo>
                  <a:pt x="7" y="78"/>
                </a:lnTo>
                <a:lnTo>
                  <a:pt x="3" y="66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7191375" y="18859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91375" y="18859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86625" y="188595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7496175" y="2047875"/>
            <a:ext cx="133350" cy="742950"/>
          </a:xfrm>
          <a:custGeom>
            <a:avLst/>
            <a:gdLst/>
            <a:ahLst/>
            <a:cxnLst/>
            <a:rect l="l" t="t" r="r" b="b"/>
            <a:pathLst>
              <a:path w="14" h="78">
                <a:moveTo>
                  <a:pt x="0" y="0"/>
                </a:moveTo>
                <a:lnTo>
                  <a:pt x="14" y="0"/>
                </a:lnTo>
                <a:lnTo>
                  <a:pt x="11" y="66"/>
                </a:lnTo>
                <a:lnTo>
                  <a:pt x="7" y="78"/>
                </a:lnTo>
                <a:lnTo>
                  <a:pt x="3" y="66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7562850" y="188595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62850" y="188595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58100" y="188595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72250" y="3000375"/>
            <a:ext cx="19335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壁挂伞夹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3343275"/>
            <a:ext cx="19335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依墙限位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72675" y="1771650"/>
            <a:ext cx="609600" cy="1085850"/>
          </a:xfrm>
          <a:prstGeom prst="roundRect">
            <a:avLst>
              <a:gd name="adj" fmla="val 18750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229850" y="2076450"/>
            <a:ext cx="114300" cy="676275"/>
          </a:xfrm>
          <a:custGeom>
            <a:avLst/>
            <a:gdLst/>
            <a:ahLst/>
            <a:cxnLst/>
            <a:rect l="l" t="t" r="r" b="b"/>
            <a:pathLst>
              <a:path w="12" h="71">
                <a:moveTo>
                  <a:pt x="0" y="0"/>
                </a:moveTo>
                <a:lnTo>
                  <a:pt x="12" y="0"/>
                </a:lnTo>
                <a:lnTo>
                  <a:pt x="10" y="59"/>
                </a:lnTo>
                <a:lnTo>
                  <a:pt x="6" y="71"/>
                </a:lnTo>
                <a:lnTo>
                  <a:pt x="2" y="59"/>
                </a:lnTo>
                <a:close/>
              </a:path>
            </a:pathLst>
          </a:custGeom>
          <a:solidFill>
            <a:srgbClr val="68766F"/>
          </a:solidFill>
          <a:ln w="9525">
            <a:solidFill>
              <a:srgbClr val="68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10287000" y="1914525"/>
            <a:ext cx="0" cy="161925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287000" y="1914525"/>
            <a:ext cx="95250" cy="0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382250" y="1914525"/>
            <a:ext cx="0" cy="114300"/>
          </a:xfrm>
          <a:prstGeom prst="line">
            <a:avLst/>
          </a:prstGeom>
          <a:ln w="2857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429750" y="3000375"/>
            <a:ext cx="19335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223C36"/>
                </a:solidFill>
                <a:latin typeface="Microsoft YaHei"/>
                <a:ea typeface="Microsoft YaHei"/>
              </a:rPr>
              <a:t>一次性伞袋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9750" y="3343275"/>
            <a:ext cx="19335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包覆携带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4350" y="3857625"/>
            <a:ext cx="2009393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650" y="3952875"/>
            <a:ext cx="1809368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结构类型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23744" y="3857625"/>
            <a:ext cx="2902458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38044" y="3952875"/>
            <a:ext cx="2702433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可能的优势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26202" y="3857625"/>
            <a:ext cx="3125724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40502" y="3952875"/>
            <a:ext cx="292569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本场景的局限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51926" y="3857625"/>
            <a:ext cx="3125724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66226" y="3952875"/>
            <a:ext cx="292569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本方案借鉴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4350" y="4267200"/>
            <a:ext cx="2009393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8650" y="4371975"/>
            <a:ext cx="180936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桶式 / 插孔式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23744" y="4267200"/>
            <a:ext cx="2902458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38044" y="4371975"/>
            <a:ext cx="27024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结构直观 / 有序分位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26202" y="4267200"/>
            <a:ext cx="3125724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40502" y="4371975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混放取伞 / 短伞难取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51926" y="4267200"/>
            <a:ext cx="3125724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66226" y="4371975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开放视野与分区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4350" y="4791075"/>
            <a:ext cx="2009393" cy="523874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8650" y="4895850"/>
            <a:ext cx="180936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壁挂式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523744" y="4791075"/>
            <a:ext cx="2902458" cy="523874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38044" y="4895850"/>
            <a:ext cx="27024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占地较少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26202" y="4791075"/>
            <a:ext cx="3125724" cy="523874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40502" y="4895850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墙体安装与下方滴水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51926" y="4791075"/>
            <a:ext cx="3125724" cy="523874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66226" y="4895850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限位方式与后部固定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4350" y="5314950"/>
            <a:ext cx="2009393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8650" y="5419725"/>
            <a:ext cx="180936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一次性伞袋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23744" y="5314950"/>
            <a:ext cx="2902458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38044" y="5419725"/>
            <a:ext cx="27024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湿伞可随身带走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26202" y="5314950"/>
            <a:ext cx="3125724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40502" y="5419725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耗材补给、废弃物管理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51926" y="5314950"/>
            <a:ext cx="3125724" cy="5238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66226" y="5419725"/>
            <a:ext cx="292569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操作步骤应尽量少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不主张“市场首创”；本设计的差异集中于长短伞兼容、开放取放和低门槛维护。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06 / REQUIREMENTS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需求转译：把“整齐”拆成可验证目标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初期目标用于指导模型测试，不代表已经达到的性能。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1800225"/>
            <a:ext cx="1451229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895474"/>
            <a:ext cx="1251204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优先级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579" y="1800225"/>
            <a:ext cx="2790825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9879" y="1895474"/>
            <a:ext cx="259080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用户需求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6404" y="1800225"/>
            <a:ext cx="3795522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0704" y="1895474"/>
            <a:ext cx="3595497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设计响应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51926" y="1800225"/>
            <a:ext cx="3125724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6226" y="1895474"/>
            <a:ext cx="292569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拟验证指标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2209800"/>
            <a:ext cx="1451229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23145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必须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579" y="2209800"/>
            <a:ext cx="2790825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79879" y="23145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长短伞都能存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6404" y="2209800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0704" y="23145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6个长伞位 + 2×2短伞浅篮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1926" y="2209800"/>
            <a:ext cx="312572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6226" y="23145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12把样伞适配；失配记录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350" y="2819400"/>
            <a:ext cx="1451229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650" y="29241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必须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579" y="2819400"/>
            <a:ext cx="2790825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9879" y="29241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水滴不散到地面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6404" y="2819400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0704" y="29241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全宽承水面 + 可抽接水盘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51926" y="2819400"/>
            <a:ext cx="3125724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6226" y="29241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500mL模拟滴水，无明显外漏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350" y="3429000"/>
            <a:ext cx="1451229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5337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必须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65579" y="3429000"/>
            <a:ext cx="2790825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79879" y="35337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不阻碍通行且不易倒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6404" y="3429000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0704" y="35337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点位测量 + 后部防倾倒连接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51926" y="3429000"/>
            <a:ext cx="312572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66226" y="35337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现场审批；侧向拉拽不失稳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350" y="4038600"/>
            <a:ext cx="1451229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650" y="41433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必须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65579" y="4038600"/>
            <a:ext cx="2790825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79879" y="41433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容易清理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6404" y="4038600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0704" y="41433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可提短伞篮；接水盘带提握边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51926" y="4038600"/>
            <a:ext cx="3125724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66226" y="41433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倾倒/复位≤60秒，无明显洒水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350" y="4648200"/>
            <a:ext cx="1451229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650" y="47529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应有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65579" y="4648200"/>
            <a:ext cx="2790825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79879" y="47529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放取顺手、容易认领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6404" y="4648200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70704" y="47529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前开口限位；伞柄外露；编号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51926" y="4648200"/>
            <a:ext cx="3125724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6226" y="47529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首次使用≥8/10人无需解释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4350" y="5257800"/>
            <a:ext cx="1451229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650" y="5362575"/>
            <a:ext cx="125120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可延后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65579" y="5257800"/>
            <a:ext cx="2790825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9879" y="5362575"/>
            <a:ext cx="2590800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扩大服务容量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6404" y="5257800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70704" y="5362575"/>
            <a:ext cx="3595497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单元并排连接，数量按峰值配置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51926" y="5257800"/>
            <a:ext cx="3125724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66226" y="5362575"/>
            <a:ext cx="2925699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两模块测试相邻存取干涉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边界：编号辅助辨认，不保证防盗；自然沥水不等于烘干；满位时不得继续挤放。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07 / CONCEPT EXPLORATION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概念发散：三种产品路径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统一围绕校园短时存伞，比较空间适应性、维护方式和实现难度。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90700"/>
            <a:ext cx="3600450" cy="3952875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5775" y="1790700"/>
            <a:ext cx="3600450" cy="3952875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790700"/>
            <a:ext cx="3600450" cy="3952875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257300" y="2190750"/>
            <a:ext cx="0" cy="1828799"/>
          </a:xfrm>
          <a:prstGeom prst="line">
            <a:avLst/>
          </a:prstGeom>
          <a:ln w="571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95400" y="2581275"/>
            <a:ext cx="2190750" cy="171450"/>
          </a:xfrm>
          <a:prstGeom prst="roundRect">
            <a:avLst>
              <a:gd name="adj" fmla="val 16666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38275" y="2600325"/>
            <a:ext cx="171450" cy="1143000"/>
          </a:xfrm>
          <a:custGeom>
            <a:avLst/>
            <a:gdLst/>
            <a:ahLst/>
            <a:cxnLst/>
            <a:rect l="l" t="t" r="r" b="b"/>
            <a:pathLst>
              <a:path w="18" h="120">
                <a:moveTo>
                  <a:pt x="0" y="0"/>
                </a:moveTo>
                <a:lnTo>
                  <a:pt x="18" y="0"/>
                </a:lnTo>
                <a:lnTo>
                  <a:pt x="13" y="108"/>
                </a:lnTo>
                <a:lnTo>
                  <a:pt x="9" y="120"/>
                </a:lnTo>
                <a:lnTo>
                  <a:pt x="5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1524000" y="243840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24000" y="243840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619250" y="243840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1838325" y="2600325"/>
            <a:ext cx="171450" cy="1143000"/>
          </a:xfrm>
          <a:custGeom>
            <a:avLst/>
            <a:gdLst/>
            <a:ahLst/>
            <a:cxnLst/>
            <a:rect l="l" t="t" r="r" b="b"/>
            <a:pathLst>
              <a:path w="18" h="120">
                <a:moveTo>
                  <a:pt x="0" y="0"/>
                </a:moveTo>
                <a:lnTo>
                  <a:pt x="18" y="0"/>
                </a:lnTo>
                <a:lnTo>
                  <a:pt x="13" y="108"/>
                </a:lnTo>
                <a:lnTo>
                  <a:pt x="9" y="120"/>
                </a:lnTo>
                <a:lnTo>
                  <a:pt x="5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1924049" y="243840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924049" y="2438400"/>
            <a:ext cx="95251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19300" y="243840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2238375" y="2600325"/>
            <a:ext cx="171450" cy="1143000"/>
          </a:xfrm>
          <a:custGeom>
            <a:avLst/>
            <a:gdLst/>
            <a:ahLst/>
            <a:cxnLst/>
            <a:rect l="l" t="t" r="r" b="b"/>
            <a:pathLst>
              <a:path w="18" h="120">
                <a:moveTo>
                  <a:pt x="0" y="0"/>
                </a:moveTo>
                <a:lnTo>
                  <a:pt x="18" y="0"/>
                </a:lnTo>
                <a:lnTo>
                  <a:pt x="13" y="108"/>
                </a:lnTo>
                <a:lnTo>
                  <a:pt x="9" y="120"/>
                </a:lnTo>
                <a:lnTo>
                  <a:pt x="5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324100" y="243840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324100" y="243840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19350" y="243840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638425" y="2600325"/>
            <a:ext cx="171450" cy="1143000"/>
          </a:xfrm>
          <a:custGeom>
            <a:avLst/>
            <a:gdLst/>
            <a:ahLst/>
            <a:cxnLst/>
            <a:rect l="l" t="t" r="r" b="b"/>
            <a:pathLst>
              <a:path w="18" h="120">
                <a:moveTo>
                  <a:pt x="0" y="0"/>
                </a:moveTo>
                <a:lnTo>
                  <a:pt x="18" y="0"/>
                </a:lnTo>
                <a:lnTo>
                  <a:pt x="13" y="108"/>
                </a:lnTo>
                <a:lnTo>
                  <a:pt x="9" y="120"/>
                </a:lnTo>
                <a:lnTo>
                  <a:pt x="5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2724150" y="243840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24150" y="243840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19400" y="243840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3038475" y="2600325"/>
            <a:ext cx="171450" cy="1143000"/>
          </a:xfrm>
          <a:custGeom>
            <a:avLst/>
            <a:gdLst/>
            <a:ahLst/>
            <a:cxnLst/>
            <a:rect l="l" t="t" r="r" b="b"/>
            <a:pathLst>
              <a:path w="18" h="120">
                <a:moveTo>
                  <a:pt x="0" y="0"/>
                </a:moveTo>
                <a:lnTo>
                  <a:pt x="18" y="0"/>
                </a:lnTo>
                <a:lnTo>
                  <a:pt x="13" y="108"/>
                </a:lnTo>
                <a:lnTo>
                  <a:pt x="9" y="120"/>
                </a:lnTo>
                <a:lnTo>
                  <a:pt x="5" y="108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3124200" y="2438400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24200" y="2438400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219450" y="2438400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314450" y="3933824"/>
            <a:ext cx="2190750" cy="266700"/>
          </a:xfrm>
          <a:prstGeom prst="roundRect">
            <a:avLst>
              <a:gd name="adj" fmla="val 10714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425" y="4457700"/>
            <a:ext cx="312420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A  壁挂折叠伞架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425" y="4895850"/>
            <a:ext cx="3124200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闲时可收起、节省地面；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依赖墙体，短伞适配较复杂。</a:t>
            </a:r>
          </a:p>
        </p:txBody>
      </p:sp>
      <p:sp>
        <p:nvSpPr>
          <p:cNvPr id="39" name="Freeform 38"/>
          <p:cNvSpPr/>
          <p:nvPr/>
        </p:nvSpPr>
        <p:spPr>
          <a:xfrm>
            <a:off x="4552950" y="4048125"/>
            <a:ext cx="2257425" cy="190500"/>
          </a:xfrm>
          <a:custGeom>
            <a:avLst/>
            <a:gdLst/>
            <a:ahLst/>
            <a:cxnLst/>
            <a:rect l="l" t="t" r="r" b="b"/>
            <a:pathLst>
              <a:path w="237" h="20">
                <a:moveTo>
                  <a:pt x="0" y="0"/>
                </a:moveTo>
                <a:lnTo>
                  <a:pt x="192" y="0"/>
                </a:lnTo>
                <a:lnTo>
                  <a:pt x="237" y="20"/>
                </a:lnTo>
                <a:lnTo>
                  <a:pt x="45" y="20"/>
                </a:lnTo>
                <a:close/>
              </a:path>
            </a:pathLst>
          </a:custGeom>
          <a:solidFill>
            <a:srgbClr val="D8DDD2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552950" y="3838575"/>
            <a:ext cx="1828800" cy="209550"/>
          </a:xfrm>
          <a:custGeom>
            <a:avLst/>
            <a:gdLst/>
            <a:ahLst/>
            <a:cxnLst/>
            <a:rect l="l" t="t" r="r" b="b"/>
            <a:pathLst>
              <a:path w="192" h="22">
                <a:moveTo>
                  <a:pt x="0" y="22"/>
                </a:moveTo>
                <a:lnTo>
                  <a:pt x="192" y="22"/>
                </a:lnTo>
                <a:lnTo>
                  <a:pt x="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381750" y="3838575"/>
            <a:ext cx="428625" cy="400050"/>
          </a:xfrm>
          <a:custGeom>
            <a:avLst/>
            <a:gdLst/>
            <a:ahLst/>
            <a:cxnLst/>
            <a:rect l="l" t="t" r="r" b="b"/>
            <a:pathLst>
              <a:path w="45" h="42">
                <a:moveTo>
                  <a:pt x="0" y="22"/>
                </a:moveTo>
                <a:lnTo>
                  <a:pt x="45" y="42"/>
                </a:lnTo>
                <a:lnTo>
                  <a:pt x="45" y="19"/>
                </a:lnTo>
                <a:lnTo>
                  <a:pt x="0" y="0"/>
                </a:lnTo>
                <a:close/>
              </a:path>
            </a:pathLst>
          </a:custGeom>
          <a:solidFill>
            <a:srgbClr val="C9D2C5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987290" y="2078812"/>
            <a:ext cx="0" cy="1920240"/>
          </a:xfrm>
          <a:prstGeom prst="line">
            <a:avLst/>
          </a:prstGeom>
          <a:ln w="42672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987290" y="2078812"/>
            <a:ext cx="0" cy="1920240"/>
          </a:xfrm>
          <a:prstGeom prst="line">
            <a:avLst/>
          </a:prstGeom>
          <a:ln w="27432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694170" y="2078812"/>
            <a:ext cx="0" cy="1920240"/>
          </a:xfrm>
          <a:prstGeom prst="line">
            <a:avLst/>
          </a:prstGeom>
          <a:ln w="42672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694170" y="2078812"/>
            <a:ext cx="0" cy="1920240"/>
          </a:xfrm>
          <a:prstGeom prst="line">
            <a:avLst/>
          </a:prstGeom>
          <a:ln w="27432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961382" y="2201036"/>
            <a:ext cx="1054608" cy="0"/>
          </a:xfrm>
          <a:prstGeom prst="line">
            <a:avLst/>
          </a:prstGeom>
          <a:ln w="73152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01472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18236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5000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51764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68528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52922" y="2179396"/>
            <a:ext cx="36576" cy="36576"/>
          </a:xfrm>
          <a:prstGeom prst="ellipse">
            <a:avLst/>
          </a:prstGeom>
          <a:solidFill>
            <a:srgbClr val="F5F3EC"/>
          </a:solidFill>
          <a:ln w="762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867400" y="3086100"/>
            <a:ext cx="762000" cy="123825"/>
          </a:xfrm>
          <a:custGeom>
            <a:avLst/>
            <a:gdLst/>
            <a:ahLst/>
            <a:cxnLst/>
            <a:rect l="l" t="t" r="r" b="b"/>
            <a:pathLst>
              <a:path w="80" h="13">
                <a:moveTo>
                  <a:pt x="0" y="0"/>
                </a:moveTo>
                <a:lnTo>
                  <a:pt x="51" y="0"/>
                </a:lnTo>
                <a:lnTo>
                  <a:pt x="80" y="13"/>
                </a:lnTo>
                <a:lnTo>
                  <a:pt x="29" y="13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867400" y="2657475"/>
            <a:ext cx="485775" cy="428625"/>
          </a:xfrm>
          <a:custGeom>
            <a:avLst/>
            <a:gdLst/>
            <a:ahLst/>
            <a:cxnLst/>
            <a:rect l="l" t="t" r="r" b="b"/>
            <a:pathLst>
              <a:path w="51" h="45">
                <a:moveTo>
                  <a:pt x="0" y="45"/>
                </a:moveTo>
                <a:lnTo>
                  <a:pt x="51" y="45"/>
                </a:lnTo>
                <a:lnTo>
                  <a:pt x="51" y="0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5867400" y="2657475"/>
            <a:ext cx="762000" cy="123825"/>
          </a:xfrm>
          <a:custGeom>
            <a:avLst/>
            <a:gdLst/>
            <a:ahLst/>
            <a:cxnLst/>
            <a:rect l="l" t="t" r="r" b="b"/>
            <a:pathLst>
              <a:path w="80" h="13">
                <a:moveTo>
                  <a:pt x="0" y="0"/>
                </a:moveTo>
                <a:lnTo>
                  <a:pt x="51" y="0"/>
                </a:lnTo>
                <a:lnTo>
                  <a:pt x="80" y="13"/>
                </a:lnTo>
                <a:lnTo>
                  <a:pt x="29" y="13"/>
                </a:lnTo>
                <a:close/>
              </a:path>
            </a:pathLst>
          </a:cu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4690110" y="3835984"/>
            <a:ext cx="304799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848606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007102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65598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324094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82590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5641086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799582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958078" y="3835984"/>
            <a:ext cx="304800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116573" y="3835984"/>
            <a:ext cx="304801" cy="134112"/>
          </a:xfrm>
          <a:prstGeom prst="line">
            <a:avLst/>
          </a:prstGeom>
          <a:ln w="6096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514850" y="4457700"/>
            <a:ext cx="312420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B  落地梳齿模块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14850" y="4895850"/>
            <a:ext cx="3124200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长短伞分区、独立接水；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需核实占地与防倾倒连接。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591300" y="1905000"/>
            <a:ext cx="1266825" cy="285750"/>
          </a:xfrm>
          <a:prstGeom prst="roundRect">
            <a:avLst>
              <a:gd name="adj" fmla="val 50000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86550" y="1952624"/>
            <a:ext cx="110490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223C36"/>
                </a:solidFill>
                <a:latin typeface="Microsoft YaHei"/>
                <a:ea typeface="Microsoft YaHei"/>
              </a:rPr>
              <a:t>推荐深化</a:t>
            </a:r>
          </a:p>
        </p:txBody>
      </p:sp>
      <p:sp>
        <p:nvSpPr>
          <p:cNvPr id="70" name="Freeform 69"/>
          <p:cNvSpPr/>
          <p:nvPr/>
        </p:nvSpPr>
        <p:spPr>
          <a:xfrm>
            <a:off x="9105900" y="2466975"/>
            <a:ext cx="1476375" cy="1619250"/>
          </a:xfrm>
          <a:custGeom>
            <a:avLst/>
            <a:gdLst/>
            <a:ahLst/>
            <a:cxnLst/>
            <a:rect l="l" t="t" r="r" b="b"/>
            <a:pathLst>
              <a:path w="155" h="170">
                <a:moveTo>
                  <a:pt x="0" y="0"/>
                </a:moveTo>
                <a:lnTo>
                  <a:pt x="155" y="0"/>
                </a:lnTo>
                <a:lnTo>
                  <a:pt x="139" y="170"/>
                </a:lnTo>
                <a:lnTo>
                  <a:pt x="13" y="170"/>
                </a:lnTo>
                <a:close/>
              </a:path>
            </a:pathLst>
          </a:custGeom>
          <a:solidFill>
            <a:srgbClr val="E4EADF"/>
          </a:solidFill>
          <a:ln w="1905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277350" y="2419350"/>
            <a:ext cx="228600" cy="1495425"/>
          </a:xfrm>
          <a:custGeom>
            <a:avLst/>
            <a:gdLst/>
            <a:ahLst/>
            <a:cxnLst/>
            <a:rect l="l" t="t" r="r" b="b"/>
            <a:pathLst>
              <a:path w="24" h="157">
                <a:moveTo>
                  <a:pt x="0" y="0"/>
                </a:moveTo>
                <a:lnTo>
                  <a:pt x="24" y="0"/>
                </a:lnTo>
                <a:lnTo>
                  <a:pt x="16" y="145"/>
                </a:lnTo>
                <a:lnTo>
                  <a:pt x="12" y="157"/>
                </a:lnTo>
                <a:lnTo>
                  <a:pt x="8" y="145"/>
                </a:lnTo>
                <a:close/>
              </a:path>
            </a:pathLst>
          </a:custGeom>
          <a:solidFill>
            <a:srgbClr val="223C3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9391650" y="2257425"/>
            <a:ext cx="0" cy="161925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391650" y="2257425"/>
            <a:ext cx="95250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486900" y="2257425"/>
            <a:ext cx="0" cy="11430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9620250" y="2419350"/>
            <a:ext cx="228600" cy="1495425"/>
          </a:xfrm>
          <a:custGeom>
            <a:avLst/>
            <a:gdLst/>
            <a:ahLst/>
            <a:cxnLst/>
            <a:rect l="l" t="t" r="r" b="b"/>
            <a:pathLst>
              <a:path w="24" h="157">
                <a:moveTo>
                  <a:pt x="0" y="0"/>
                </a:moveTo>
                <a:lnTo>
                  <a:pt x="24" y="0"/>
                </a:lnTo>
                <a:lnTo>
                  <a:pt x="16" y="145"/>
                </a:lnTo>
                <a:lnTo>
                  <a:pt x="12" y="157"/>
                </a:lnTo>
                <a:lnTo>
                  <a:pt x="8" y="145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9734550" y="2257425"/>
            <a:ext cx="0" cy="161925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34550" y="2257425"/>
            <a:ext cx="95250" cy="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29800" y="2257425"/>
            <a:ext cx="0" cy="11430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9963150" y="2419350"/>
            <a:ext cx="228600" cy="1495425"/>
          </a:xfrm>
          <a:custGeom>
            <a:avLst/>
            <a:gdLst/>
            <a:ahLst/>
            <a:cxnLst/>
            <a:rect l="l" t="t" r="r" b="b"/>
            <a:pathLst>
              <a:path w="24" h="157">
                <a:moveTo>
                  <a:pt x="0" y="0"/>
                </a:moveTo>
                <a:lnTo>
                  <a:pt x="24" y="0"/>
                </a:lnTo>
                <a:lnTo>
                  <a:pt x="16" y="145"/>
                </a:lnTo>
                <a:lnTo>
                  <a:pt x="12" y="157"/>
                </a:lnTo>
                <a:lnTo>
                  <a:pt x="8" y="145"/>
                </a:lnTo>
                <a:close/>
              </a:path>
            </a:pathLst>
          </a:custGeom>
          <a:solidFill>
            <a:srgbClr val="9E8B70"/>
          </a:solidFill>
          <a:ln w="9525">
            <a:solidFill>
              <a:srgbClr val="9E8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 flipV="1">
            <a:off x="10077450" y="2257425"/>
            <a:ext cx="0" cy="161925"/>
          </a:xfrm>
          <a:prstGeom prst="line">
            <a:avLst/>
          </a:prstGeom>
          <a:ln w="28575">
            <a:solidFill>
              <a:srgbClr val="9E8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077450" y="2257425"/>
            <a:ext cx="95250" cy="0"/>
          </a:xfrm>
          <a:prstGeom prst="line">
            <a:avLst/>
          </a:prstGeom>
          <a:ln w="28575">
            <a:solidFill>
              <a:srgbClr val="9E8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172700" y="2257425"/>
            <a:ext cx="0" cy="114300"/>
          </a:xfrm>
          <a:prstGeom prst="line">
            <a:avLst/>
          </a:prstGeom>
          <a:ln w="28575">
            <a:solidFill>
              <a:srgbClr val="9E8B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239250" y="3667125"/>
            <a:ext cx="1228725" cy="0"/>
          </a:xfrm>
          <a:prstGeom prst="line">
            <a:avLst/>
          </a:prstGeom>
          <a:ln w="38100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296274" y="4457700"/>
            <a:ext cx="3124200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C  分仓可提伞桶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96274" y="4895850"/>
            <a:ext cx="3124200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搬运方便、结构集中；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深筒清洗和折叠伞取出不便。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图为自主绘制的初期结构草图，不是完成的CAD模型；A、C作为备选保留。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08 / CONCEPT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方案筛选：优先验证 B 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采用加权决策辅助选择；分数是概念阶段判断，后续应由用户试用修正。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1809750"/>
            <a:ext cx="2551175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905000"/>
            <a:ext cx="235115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评价维度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5525" y="1809750"/>
            <a:ext cx="1133856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9825" y="1905000"/>
            <a:ext cx="933831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权重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9382" y="1809750"/>
            <a:ext cx="1133856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3682" y="1905000"/>
            <a:ext cx="933831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3238" y="1809750"/>
            <a:ext cx="1133856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7538" y="1905000"/>
            <a:ext cx="933831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67093" y="1809750"/>
            <a:ext cx="1133856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1393" y="1905000"/>
            <a:ext cx="933831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350" y="2219325"/>
            <a:ext cx="2551175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50" y="2324100"/>
            <a:ext cx="2351150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通行与空间适应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5525" y="22193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9825" y="23241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9382" y="22193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3682" y="23241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3238" y="22193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7538" y="23241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7093" y="22193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1393" y="23241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" y="2733675"/>
            <a:ext cx="2551175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650" y="2838450"/>
            <a:ext cx="2351150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长短伞兼容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5525" y="2733675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9825" y="28384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25%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9382" y="2733675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3682" y="28384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3238" y="2733675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7538" y="28384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67093" y="2733675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1393" y="28384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350" y="3248025"/>
            <a:ext cx="2551175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0" y="3352800"/>
            <a:ext cx="2351150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清理便利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5525" y="32480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9825" y="33528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99382" y="32480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13682" y="33528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3238" y="32480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7538" y="33528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7093" y="32480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1393" y="33528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350" y="3762374"/>
            <a:ext cx="2551175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650" y="3867150"/>
            <a:ext cx="2351150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制造实现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5525" y="3762374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79825" y="38671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99382" y="3762374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13682" y="38671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33238" y="3762374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47538" y="38671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7093" y="3762374"/>
            <a:ext cx="1133856" cy="51435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1393" y="386715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4350" y="4276725"/>
            <a:ext cx="2551175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8650" y="4381500"/>
            <a:ext cx="2351150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扩展与调整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5525" y="42767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79825" y="43815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99382" y="42767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13682" y="43815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33238" y="42767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47538" y="43815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67093" y="4276725"/>
            <a:ext cx="1133856" cy="514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1393" y="4381500"/>
            <a:ext cx="933831" cy="2990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14350" y="4791075"/>
            <a:ext cx="7086600" cy="609600"/>
          </a:xfrm>
          <a:prstGeom prst="roundRect">
            <a:avLst>
              <a:gd name="adj" fmla="val 7812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5325" y="4953000"/>
            <a:ext cx="2552700" cy="3662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</a:rPr>
              <a:t>加权总分 / 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67225" y="4943475"/>
            <a:ext cx="838200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</a:rPr>
              <a:t>3.25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00700" y="4943475"/>
            <a:ext cx="838200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</a:rPr>
              <a:t>4.25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4175" y="4943475"/>
            <a:ext cx="838200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</a:rPr>
              <a:t>3.10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896224" y="1809750"/>
            <a:ext cx="3781425" cy="3590925"/>
          </a:xfrm>
          <a:prstGeom prst="roundRect">
            <a:avLst>
              <a:gd name="adj" fmla="val 3183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43875" y="2057400"/>
            <a:ext cx="3314700" cy="449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3C36"/>
                </a:solidFill>
                <a:latin typeface="Microsoft YaHei"/>
                <a:ea typeface="Microsoft YaHei"/>
              </a:rPr>
              <a:t>为什么选 B？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43875" y="2638425"/>
            <a:ext cx="3314700" cy="2247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将长伞与折叠伞分开，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学生可从正面直接取放。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接水盘和短伞篮可独立拆取，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便于以常规方式清洗维护。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主要代价：需要地面空间，</a:t>
            </a:r>
          </a:p>
          <a:p>
            <a:pPr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且必须处理防倾倒连接。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评分尺度：1弱—5强；总分=Σ（权重×分数）。安全与通行是准入条件，不能用高总分抵消。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09 / SELECTED CONCEPT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推荐方案：雨停 YUTING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单元分区、开放取放、被动沥水；以简洁结构服务校园公共空间。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10 / 22</a:t>
            </a:r>
          </a:p>
        </p:txBody>
      </p:sp>
      <p:pic>
        <p:nvPicPr>
          <p:cNvPr id="11" name="Picture 10" descr="crop_786x4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743075"/>
            <a:ext cx="7486650" cy="42195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15325" y="1819275"/>
            <a:ext cx="45720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5375" y="1819275"/>
            <a:ext cx="2886075" cy="380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3C36"/>
                </a:solidFill>
                <a:latin typeface="Microsoft YaHei"/>
                <a:ea typeface="Microsoft YaHei"/>
              </a:rPr>
              <a:t>长伞梳齿区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5375" y="2171700"/>
            <a:ext cx="28860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前开口软质限位，底部承托。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2781300"/>
            <a:ext cx="45720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5375" y="2781300"/>
            <a:ext cx="2886075" cy="380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3C36"/>
                </a:solidFill>
                <a:latin typeface="Microsoft YaHei"/>
                <a:ea typeface="Microsoft YaHei"/>
              </a:rPr>
              <a:t>短伞浅篮区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5375" y="3133725"/>
            <a:ext cx="28860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2×2分隔，伞柄外露易抓取。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3743325"/>
            <a:ext cx="45720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5375" y="3743325"/>
            <a:ext cx="2886075" cy="380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3C36"/>
                </a:solidFill>
                <a:latin typeface="Microsoft YaHei"/>
                <a:ea typeface="Microsoft YaHei"/>
              </a:rPr>
              <a:t>全宽接水底座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5375" y="4095750"/>
            <a:ext cx="28860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上层格栅透水，下层盘体收集。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4705350"/>
            <a:ext cx="457200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6F897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5375" y="4705350"/>
            <a:ext cx="2886075" cy="380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3C36"/>
                </a:solidFill>
                <a:latin typeface="Microsoft YaHei"/>
                <a:ea typeface="Microsoft YaHei"/>
              </a:rPr>
              <a:t>并排连接 + 防倾倒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5375" y="5057775"/>
            <a:ext cx="28860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侧面连接片，后部限位固定。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AI辅助概念效果图仅表达造型与材质。卡口、分隔、连接件及尺寸以第11–14页结构示意为准。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10 / DIMENSIONS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基本尺寸：先建立可打样的尺度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单模块外廓暂定 600 × 280 × 700 mm；未完成人体工学实测及工程公差设计。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825" y="4897755"/>
            <a:ext cx="2628900" cy="350520"/>
          </a:xfrm>
          <a:prstGeom prst="roundRect">
            <a:avLst>
              <a:gd name="adj" fmla="val 10000"/>
            </a:avLst>
          </a:prstGeom>
          <a:solidFill>
            <a:srgbClr val="EEEDE6"/>
          </a:solidFill>
          <a:ln w="1714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5929" y="2181225"/>
            <a:ext cx="78867" cy="27165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5754" y="2181225"/>
            <a:ext cx="78867" cy="27165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4795" y="2356485"/>
            <a:ext cx="1533525" cy="131445"/>
          </a:xfrm>
          <a:prstGeom prst="roundRect">
            <a:avLst>
              <a:gd name="adj" fmla="val 16666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1755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09281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6137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8" name="Oval 17"/>
          <p:cNvSpPr/>
          <p:nvPr/>
        </p:nvSpPr>
        <p:spPr>
          <a:xfrm>
            <a:off x="1332738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350264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37119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1" name="Oval 20"/>
          <p:cNvSpPr/>
          <p:nvPr/>
        </p:nvSpPr>
        <p:spPr>
          <a:xfrm>
            <a:off x="1573720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591246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78102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4" name="Oval 23"/>
          <p:cNvSpPr/>
          <p:nvPr/>
        </p:nvSpPr>
        <p:spPr>
          <a:xfrm>
            <a:off x="1814702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832228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19084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7" name="Oval 26"/>
          <p:cNvSpPr/>
          <p:nvPr/>
        </p:nvSpPr>
        <p:spPr>
          <a:xfrm>
            <a:off x="2055685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073211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60067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2296668" y="2374011"/>
            <a:ext cx="96393" cy="96393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314194" y="2470404"/>
            <a:ext cx="0" cy="26289"/>
          </a:xfrm>
          <a:prstGeom prst="line">
            <a:avLst/>
          </a:prstGeom>
          <a:ln w="17526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301049" y="2536126"/>
            <a:ext cx="138112" cy="1397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</a:pPr>
            <a:r>
              <a:rPr sz="345" b="0">
                <a:solidFill>
                  <a:srgbClr val="68766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38425" y="3188970"/>
            <a:ext cx="701040" cy="613410"/>
          </a:xfrm>
          <a:prstGeom prst="roundRect">
            <a:avLst>
              <a:gd name="adj" fmla="val 3571"/>
            </a:avLst>
          </a:prstGeom>
          <a:solidFill>
            <a:srgbClr val="6F8976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988945" y="3188970"/>
            <a:ext cx="0" cy="613410"/>
          </a:xfrm>
          <a:prstGeom prst="line">
            <a:avLst/>
          </a:prstGeom>
          <a:ln w="9525">
            <a:solidFill>
              <a:srgbClr val="E4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693193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85205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77216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69228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61239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53251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45262" y="3322605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93193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85205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77216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69228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61239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53251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245262" y="3423380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93193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785205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877216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969228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61239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153251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45262" y="3524154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693193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785205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77216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969228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61239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153251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245262" y="3624929"/>
            <a:ext cx="21907" cy="21907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55929" y="4976622"/>
            <a:ext cx="2488692" cy="20593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9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68055" y="5024818"/>
            <a:ext cx="464439" cy="87630"/>
          </a:xfrm>
          <a:prstGeom prst="roundRect">
            <a:avLst>
              <a:gd name="adj" fmla="val 25000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39177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45108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451038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656969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862899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068829" y="4919662"/>
            <a:ext cx="87631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74760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480691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686621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892552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98482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304413" y="4919662"/>
            <a:ext cx="87630" cy="0"/>
          </a:xfrm>
          <a:prstGeom prst="line">
            <a:avLst/>
          </a:prstGeom>
          <a:ln w="8763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964692" y="5230749"/>
            <a:ext cx="122682" cy="35052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3313176" y="5230749"/>
            <a:ext cx="122682" cy="35052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885825" y="5553075"/>
            <a:ext cx="262890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85825" y="5495925"/>
            <a:ext cx="0" cy="11430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14725" y="5495925"/>
            <a:ext cx="0" cy="11430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771650" y="5619750"/>
            <a:ext cx="98107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600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590550" y="2181225"/>
            <a:ext cx="0" cy="306705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33400" y="2181225"/>
            <a:ext cx="11430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33400" y="5248275"/>
            <a:ext cx="11430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7625" y="3571875"/>
            <a:ext cx="98107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700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3000" y="1809750"/>
            <a:ext cx="2219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8976"/>
                </a:solidFill>
                <a:latin typeface="Microsoft YaHei"/>
                <a:ea typeface="Microsoft YaHei"/>
              </a:rPr>
              <a:t>正视图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410075" y="4897755"/>
            <a:ext cx="1226820" cy="35052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483542" y="2181225"/>
            <a:ext cx="78867" cy="2716530"/>
          </a:xfrm>
          <a:prstGeom prst="roundRect">
            <a:avLst>
              <a:gd name="adj" fmla="val 36231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607242" y="3188970"/>
            <a:ext cx="810577" cy="613410"/>
          </a:xfrm>
          <a:prstGeom prst="roundRect">
            <a:avLst>
              <a:gd name="adj" fmla="val 4658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5374005" y="3232785"/>
            <a:ext cx="109537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483542" y="2378392"/>
            <a:ext cx="148971" cy="0"/>
          </a:xfrm>
          <a:prstGeom prst="line">
            <a:avLst/>
          </a:prstGeom>
          <a:ln w="38100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410075" y="5553075"/>
            <a:ext cx="122682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410075" y="5495925"/>
            <a:ext cx="0" cy="11430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636895" y="5495925"/>
            <a:ext cx="0" cy="11430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594859" y="5619750"/>
            <a:ext cx="98107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280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14825" y="1809750"/>
            <a:ext cx="1457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8976"/>
                </a:solidFill>
                <a:latin typeface="Microsoft YaHei"/>
                <a:ea typeface="Microsoft YaHei"/>
              </a:rPr>
              <a:t>侧视图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667500" y="2181225"/>
            <a:ext cx="2628900" cy="1228725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829425" y="2305050"/>
            <a:ext cx="1533525" cy="133350"/>
          </a:xfrm>
          <a:prstGeom prst="roundRect">
            <a:avLst>
              <a:gd name="adj" fmla="val 21428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886575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124700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362825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600950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839074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077200" y="2324100"/>
            <a:ext cx="95250" cy="952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420100" y="2457450"/>
            <a:ext cx="704850" cy="809625"/>
          </a:xfrm>
          <a:prstGeom prst="roundRect">
            <a:avLst>
              <a:gd name="adj" fmla="val 2702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8772525" y="2457450"/>
            <a:ext cx="0" cy="809625"/>
          </a:xfrm>
          <a:prstGeom prst="line">
            <a:avLst/>
          </a:prstGeom>
          <a:ln w="952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420100" y="2867025"/>
            <a:ext cx="704850" cy="0"/>
          </a:xfrm>
          <a:prstGeom prst="line">
            <a:avLst/>
          </a:prstGeom>
          <a:ln w="952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800850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019925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239000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58075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677150" y="3381375"/>
            <a:ext cx="104774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896224" y="3381375"/>
            <a:ext cx="104776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8115300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8334375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553450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772525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991600" y="3381375"/>
            <a:ext cx="104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6819900" y="1809750"/>
            <a:ext cx="2314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8976"/>
                </a:solidFill>
                <a:latin typeface="Microsoft YaHei"/>
                <a:ea typeface="Microsoft YaHei"/>
              </a:rPr>
              <a:t>俯视图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7500" y="3743325"/>
            <a:ext cx="2886075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23C36"/>
                </a:solidFill>
                <a:latin typeface="Microsoft YaHei"/>
                <a:ea typeface="Microsoft YaHei"/>
              </a:rPr>
              <a:t>分区尺寸（暂定）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7500" y="4133849"/>
            <a:ext cx="4857750" cy="1112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长伞区：约350 mm宽；6位，中心距55 mm。</a:t>
            </a:r>
          </a:p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短伞篮：160 × 185 × 140 mm；四格净空需实测。</a:t>
            </a:r>
          </a:p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卡条中心：距地约650 mm；篮口：约470 mm。</a:t>
            </a:r>
          </a:p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底部格栅：约80 mm高；所有单位均为mm。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底托设浅定位窝与小孔排水，避免伞尖穿入格栅；卡口只限位。超长伞及湿态粗伞需单独验证适配。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11 /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结构拆解：把易脏部件做成可取出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框架承载，收纳件分区，格栅与接水盘可分别清洁；连接细节待CAD深化。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1100" y="1857375"/>
            <a:ext cx="3028950" cy="200025"/>
          </a:xfrm>
          <a:prstGeom prst="roundRect">
            <a:avLst>
              <a:gd name="adj" fmla="val 23809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3975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33625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38450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3275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48099" y="1885950"/>
            <a:ext cx="133350" cy="133350"/>
          </a:xfrm>
          <a:prstGeom prst="ellipse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571750" y="2114550"/>
            <a:ext cx="0" cy="228600"/>
          </a:xfrm>
          <a:prstGeom prst="line">
            <a:avLst/>
          </a:prstGeom>
          <a:ln w="14287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 18"/>
          <p:cNvSpPr/>
          <p:nvPr/>
        </p:nvSpPr>
        <p:spPr>
          <a:xfrm>
            <a:off x="2533650" y="2266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68766F"/>
          </a:solidFill>
          <a:ln w="9525">
            <a:solidFill>
              <a:srgbClr val="68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6800" y="2524125"/>
            <a:ext cx="133350" cy="2295525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67200" y="2524125"/>
            <a:ext cx="133350" cy="2295525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152525" y="2552700"/>
            <a:ext cx="3190875" cy="0"/>
          </a:xfrm>
          <a:prstGeom prst="line">
            <a:avLst/>
          </a:prstGeom>
          <a:ln w="9525">
            <a:solidFill>
              <a:srgbClr val="D9DED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09950" y="3000375"/>
            <a:ext cx="857250" cy="781050"/>
          </a:xfrm>
          <a:prstGeom prst="roundRect">
            <a:avLst>
              <a:gd name="adj" fmla="val 4878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838575" y="3000375"/>
            <a:ext cx="0" cy="781050"/>
          </a:xfrm>
          <a:prstGeom prst="line">
            <a:avLst/>
          </a:prstGeom>
          <a:ln w="9525">
            <a:solidFill>
              <a:srgbClr val="E4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495675" y="32480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48075" y="32480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00475" y="32480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52875" y="32480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05274" y="32480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95675" y="34004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648075" y="34004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00475" y="34004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52875" y="34004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05274" y="34004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95675" y="35528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48075" y="35528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800475" y="35528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52875" y="35528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05274" y="3552825"/>
            <a:ext cx="38100" cy="38100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3848099" y="2838450"/>
            <a:ext cx="0" cy="142875"/>
          </a:xfrm>
          <a:prstGeom prst="line">
            <a:avLst/>
          </a:prstGeom>
          <a:ln w="14287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3810000" y="2905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68766F"/>
          </a:solidFill>
          <a:ln w="9525">
            <a:solidFill>
              <a:srgbClr val="68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4667250"/>
            <a:ext cx="3543300" cy="228600"/>
          </a:xfrm>
          <a:custGeom>
            <a:avLst/>
            <a:gdLst/>
            <a:ahLst/>
            <a:cxnLst/>
            <a:rect l="l" t="t" r="r" b="b"/>
            <a:pathLst>
              <a:path w="372" h="24">
                <a:moveTo>
                  <a:pt x="0" y="0"/>
                </a:moveTo>
                <a:lnTo>
                  <a:pt x="342" y="0"/>
                </a:lnTo>
                <a:lnTo>
                  <a:pt x="372" y="24"/>
                </a:lnTo>
                <a:lnTo>
                  <a:pt x="30" y="24"/>
                </a:lnTo>
                <a:close/>
              </a:path>
            </a:pathLst>
          </a:custGeom>
          <a:solidFill>
            <a:srgbClr val="E4EADF"/>
          </a:solidFill>
          <a:ln w="19050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2573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5621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866899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717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4765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813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861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3909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957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000500" y="4695825"/>
            <a:ext cx="171450" cy="161925"/>
          </a:xfrm>
          <a:prstGeom prst="line">
            <a:avLst/>
          </a:prstGeom>
          <a:ln w="1905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705100" y="4962525"/>
            <a:ext cx="0" cy="219075"/>
          </a:xfrm>
          <a:prstGeom prst="line">
            <a:avLst/>
          </a:prstGeom>
          <a:ln w="14287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53"/>
          <p:cNvSpPr/>
          <p:nvPr/>
        </p:nvSpPr>
        <p:spPr>
          <a:xfrm>
            <a:off x="2667000" y="5105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68766F"/>
          </a:solidFill>
          <a:ln w="9525">
            <a:solidFill>
              <a:srgbClr val="68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47749" y="5238750"/>
            <a:ext cx="3409950" cy="333375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343150" y="5343525"/>
            <a:ext cx="838200" cy="133350"/>
          </a:xfrm>
          <a:prstGeom prst="roundRect">
            <a:avLst>
              <a:gd name="adj" fmla="val 21428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48175" y="1790700"/>
            <a:ext cx="247649" cy="247649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5325" y="1819275"/>
            <a:ext cx="1619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9" name="Oval 58"/>
          <p:cNvSpPr/>
          <p:nvPr/>
        </p:nvSpPr>
        <p:spPr>
          <a:xfrm>
            <a:off x="4448175" y="2476500"/>
            <a:ext cx="247649" cy="247649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5325" y="2505075"/>
            <a:ext cx="1619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61" name="Oval 60"/>
          <p:cNvSpPr/>
          <p:nvPr/>
        </p:nvSpPr>
        <p:spPr>
          <a:xfrm>
            <a:off x="4448175" y="3238500"/>
            <a:ext cx="247649" cy="247649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05325" y="3267075"/>
            <a:ext cx="1619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3" name="Oval 62"/>
          <p:cNvSpPr/>
          <p:nvPr/>
        </p:nvSpPr>
        <p:spPr>
          <a:xfrm>
            <a:off x="4638675" y="4600575"/>
            <a:ext cx="247649" cy="247649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95825" y="4629150"/>
            <a:ext cx="1619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65" name="Oval 64"/>
          <p:cNvSpPr/>
          <p:nvPr/>
        </p:nvSpPr>
        <p:spPr>
          <a:xfrm>
            <a:off x="4543425" y="5219700"/>
            <a:ext cx="247649" cy="247649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00575" y="5248275"/>
            <a:ext cx="1619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62575" y="1819275"/>
            <a:ext cx="631507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6875" y="1914525"/>
            <a:ext cx="431482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4082" y="1819275"/>
            <a:ext cx="1768221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08382" y="1914525"/>
            <a:ext cx="1568196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部件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62303" y="1819275"/>
            <a:ext cx="3915346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876603" y="1914525"/>
            <a:ext cx="3715321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初步材料 / 连接方式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62575" y="2228850"/>
            <a:ext cx="631507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76875" y="2333625"/>
            <a:ext cx="43148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94082" y="2228850"/>
            <a:ext cx="1768221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08382" y="2333625"/>
            <a:ext cx="15681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柔性梳齿条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62303" y="2228850"/>
            <a:ext cx="3915346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76603" y="2333625"/>
            <a:ext cx="37153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TPE/硅胶嵌件；可替换安装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62575" y="2876550"/>
            <a:ext cx="631507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76875" y="2981325"/>
            <a:ext cx="43148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94082" y="2876550"/>
            <a:ext cx="1768221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08382" y="2981325"/>
            <a:ext cx="15681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承载框架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62303" y="2876550"/>
            <a:ext cx="3915346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76603" y="2981325"/>
            <a:ext cx="37153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折弯钢板 + 螺栓；后部防倾倒连接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62575" y="3524250"/>
            <a:ext cx="631507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76875" y="3629025"/>
            <a:ext cx="43148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94082" y="3524250"/>
            <a:ext cx="1768221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08382" y="3629025"/>
            <a:ext cx="15681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短伞分格篮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62303" y="3524250"/>
            <a:ext cx="3915346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876603" y="3629025"/>
            <a:ext cx="37153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PP方案；打样用穿孔板/3D打印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362575" y="4171950"/>
            <a:ext cx="631507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76875" y="4276725"/>
            <a:ext cx="43148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94082" y="4171950"/>
            <a:ext cx="1768221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08382" y="4276725"/>
            <a:ext cx="15681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可提格栅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62303" y="4171950"/>
            <a:ext cx="3915346" cy="6477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876603" y="4276725"/>
            <a:ext cx="37153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有定位止口，取出后可冲洗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62575" y="4819650"/>
            <a:ext cx="631507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76875" y="4924425"/>
            <a:ext cx="43148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94082" y="4819650"/>
            <a:ext cx="1768221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08382" y="4924425"/>
            <a:ext cx="156819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接水盘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62303" y="4819650"/>
            <a:ext cx="3915346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76603" y="4924425"/>
            <a:ext cx="371532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浅盘带握边，设抽拉止挡与水位标记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后部防倾倒连接及侧面并排连接片不在拆解图中展开；未通过稳定性测试前不得在真实走廊投用。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12 / DETAIL STUDY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关键细节：限位、连接和防倾倒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局部结构为拟定构造，须经受力、湿态操作与加工可行性验证后定型。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09750"/>
            <a:ext cx="3600450" cy="3876674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5775" y="1809750"/>
            <a:ext cx="3600450" cy="3876674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7200" y="1809750"/>
            <a:ext cx="3600450" cy="3876674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8200" y="2343150"/>
            <a:ext cx="2952750" cy="619125"/>
          </a:xfrm>
          <a:prstGeom prst="roundRect">
            <a:avLst>
              <a:gd name="adj" fmla="val 9230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7775" y="2466975"/>
            <a:ext cx="381000" cy="381000"/>
          </a:xfrm>
          <a:prstGeom prst="ellipse">
            <a:avLst/>
          </a:prstGeom>
          <a:solidFill>
            <a:srgbClr val="F5F3EC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23975" y="2657475"/>
            <a:ext cx="228600" cy="32385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2872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55257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162175" y="2466975"/>
            <a:ext cx="381000" cy="381000"/>
          </a:xfrm>
          <a:prstGeom prst="ellipse">
            <a:avLst/>
          </a:prstGeom>
          <a:solidFill>
            <a:srgbClr val="F5F3EC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8375" y="2657475"/>
            <a:ext cx="228600" cy="32385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14312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46697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076575" y="2466975"/>
            <a:ext cx="381000" cy="381000"/>
          </a:xfrm>
          <a:prstGeom prst="ellipse">
            <a:avLst/>
          </a:prstGeom>
          <a:solidFill>
            <a:srgbClr val="F5F3EC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2775" y="2657475"/>
            <a:ext cx="228600" cy="32385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05752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381375" y="2695575"/>
            <a:ext cx="95250" cy="200025"/>
          </a:xfrm>
          <a:prstGeom prst="line">
            <a:avLst/>
          </a:prstGeom>
          <a:ln w="1905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352675" y="3076575"/>
            <a:ext cx="0" cy="457200"/>
          </a:xfrm>
          <a:prstGeom prst="line">
            <a:avLst/>
          </a:prstGeom>
          <a:ln w="28575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314575" y="3076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0"/>
                </a:moveTo>
                <a:lnTo>
                  <a:pt x="8" y="8"/>
                </a:lnTo>
                <a:lnTo>
                  <a:pt x="0" y="8"/>
                </a:lnTo>
                <a:close/>
              </a:path>
            </a:pathLst>
          </a:custGeom>
          <a:solidFill>
            <a:srgbClr val="B66F45"/>
          </a:solidFill>
          <a:ln w="9525">
            <a:solidFill>
              <a:srgbClr val="B66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150" y="2019300"/>
            <a:ext cx="3028950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F8976"/>
                </a:solidFill>
                <a:latin typeface="Microsoft YaHei"/>
                <a:ea typeface="Microsoft YaHei"/>
              </a:rPr>
              <a:t>俯视：前开口软卡条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29050"/>
            <a:ext cx="2981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01  软接触，只限位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286250"/>
            <a:ext cx="2981325" cy="1080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伞从前方进入U形卡口；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喉口暂按12–18mm试验，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软片变形适应伞径，底部承重。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卡条用螺钉压条固定，可单独换。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8675" y="2266950"/>
            <a:ext cx="238125" cy="1228725"/>
          </a:xfrm>
          <a:prstGeom prst="roundRect">
            <a:avLst>
              <a:gd name="adj" fmla="val 4000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72100" y="2305050"/>
            <a:ext cx="190500" cy="1238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867275" y="2381250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7" h="28">
                <a:moveTo>
                  <a:pt x="0" y="13"/>
                </a:moveTo>
                <a:lnTo>
                  <a:pt x="45" y="13"/>
                </a:lnTo>
                <a:lnTo>
                  <a:pt x="45" y="0"/>
                </a:lnTo>
                <a:lnTo>
                  <a:pt x="57" y="0"/>
                </a:lnTo>
                <a:lnTo>
                  <a:pt x="57" y="28"/>
                </a:lnTo>
                <a:lnTo>
                  <a:pt x="0" y="28"/>
                </a:lnTo>
                <a:close/>
              </a:path>
            </a:pathLst>
          </a:custGeom>
          <a:solidFill>
            <a:srgbClr val="6F8976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33925" y="2524125"/>
            <a:ext cx="76200" cy="76200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29250" y="2466975"/>
            <a:ext cx="76200" cy="76200"/>
          </a:xfrm>
          <a:prstGeom prst="ellipse">
            <a:avLst/>
          </a:prstGeom>
          <a:solidFill>
            <a:srgbClr val="B66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876800" y="3324225"/>
            <a:ext cx="485775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19750" y="2390775"/>
            <a:ext cx="1838324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墙体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9750" y="2790825"/>
            <a:ext cx="1838324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后部限位连接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9625" y="3829050"/>
            <a:ext cx="2981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02  防倾倒是准入条件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9625" y="4286250"/>
            <a:ext cx="2981325" cy="1080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后部L形连接片与合适基层固定；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校方确认墙体、锚固与管线条件。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无可用固定点时应另做稳定方案，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不能直接取消防倾倒结构。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2950" y="2371725"/>
            <a:ext cx="1200150" cy="790575"/>
          </a:xfrm>
          <a:prstGeom prst="roundRect">
            <a:avLst>
              <a:gd name="adj" fmla="val 3614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58350" y="2371725"/>
            <a:ext cx="1200150" cy="790575"/>
          </a:xfrm>
          <a:prstGeom prst="roundRect">
            <a:avLst>
              <a:gd name="adj" fmla="val 3614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67825" y="2581275"/>
            <a:ext cx="685800" cy="238125"/>
          </a:xfrm>
          <a:prstGeom prst="roundRect">
            <a:avLst>
              <a:gd name="adj" fmla="val 12000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44025" y="2657475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01225" y="2657475"/>
            <a:ext cx="76200" cy="76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62950" y="3295650"/>
            <a:ext cx="2981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侧面连接片 + 防松紧固件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1050" y="3829050"/>
            <a:ext cx="298132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03  并排连接，不叠高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1050" y="4286250"/>
            <a:ext cx="2981325" cy="10801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连接片限制模块相对移动；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连接后仍需核查整组稳定性。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接水盘应能独立抽取，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连接件不能侵入盘体运动路径。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12–18mm为卡口试验范围，不是冻结尺寸；后部固定与模块连接的孔位、厚度和紧固规格待CAD确定。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13 / WATER &amp; MAINTENANCE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沥水逻辑：水往下走，维护向前做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以重力收集为主，保持开放通风；不使用电热、风机或一次性耗材。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14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71650"/>
            <a:ext cx="5715000" cy="3895725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257300" y="2276475"/>
            <a:ext cx="0" cy="2419350"/>
          </a:xfrm>
          <a:prstGeom prst="line">
            <a:avLst/>
          </a:prstGeom>
          <a:ln w="476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85900" y="2705100"/>
            <a:ext cx="1219200" cy="809625"/>
          </a:xfrm>
          <a:prstGeom prst="roundRect">
            <a:avLst>
              <a:gd name="adj" fmla="val 4705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095499" y="2705100"/>
            <a:ext cx="0" cy="809625"/>
          </a:xfrm>
          <a:prstGeom prst="line">
            <a:avLst/>
          </a:prstGeom>
          <a:ln w="952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1666875" y="3667125"/>
            <a:ext cx="76200" cy="123825"/>
          </a:xfrm>
          <a:custGeom>
            <a:avLst/>
            <a:gdLst/>
            <a:ahLst/>
            <a:cxnLst/>
            <a:rect l="l" t="t" r="r" b="b"/>
            <a:pathLst>
              <a:path w="8" h="13">
                <a:moveTo>
                  <a:pt x="4" y="0"/>
                </a:moveTo>
                <a:lnTo>
                  <a:pt x="0" y="7"/>
                </a:lnTo>
                <a:lnTo>
                  <a:pt x="0" y="10"/>
                </a:lnTo>
                <a:lnTo>
                  <a:pt x="4" y="13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933575" y="3667125"/>
            <a:ext cx="76200" cy="123825"/>
          </a:xfrm>
          <a:custGeom>
            <a:avLst/>
            <a:gdLst/>
            <a:ahLst/>
            <a:cxnLst/>
            <a:rect l="l" t="t" r="r" b="b"/>
            <a:pathLst>
              <a:path w="8" h="13">
                <a:moveTo>
                  <a:pt x="4" y="0"/>
                </a:moveTo>
                <a:lnTo>
                  <a:pt x="0" y="7"/>
                </a:lnTo>
                <a:lnTo>
                  <a:pt x="0" y="10"/>
                </a:lnTo>
                <a:lnTo>
                  <a:pt x="4" y="13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314575" y="3667125"/>
            <a:ext cx="76200" cy="123825"/>
          </a:xfrm>
          <a:custGeom>
            <a:avLst/>
            <a:gdLst/>
            <a:ahLst/>
            <a:cxnLst/>
            <a:rect l="l" t="t" r="r" b="b"/>
            <a:pathLst>
              <a:path w="8" h="13">
                <a:moveTo>
                  <a:pt x="4" y="0"/>
                </a:moveTo>
                <a:lnTo>
                  <a:pt x="0" y="7"/>
                </a:lnTo>
                <a:lnTo>
                  <a:pt x="0" y="10"/>
                </a:lnTo>
                <a:lnTo>
                  <a:pt x="4" y="13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33650" y="3667125"/>
            <a:ext cx="76200" cy="123825"/>
          </a:xfrm>
          <a:custGeom>
            <a:avLst/>
            <a:gdLst/>
            <a:ahLst/>
            <a:cxnLst/>
            <a:rect l="l" t="t" r="r" b="b"/>
            <a:pathLst>
              <a:path w="8" h="13">
                <a:moveTo>
                  <a:pt x="4" y="0"/>
                </a:moveTo>
                <a:lnTo>
                  <a:pt x="0" y="7"/>
                </a:lnTo>
                <a:lnTo>
                  <a:pt x="0" y="10"/>
                </a:lnTo>
                <a:lnTo>
                  <a:pt x="4" y="13"/>
                </a:lnTo>
                <a:lnTo>
                  <a:pt x="8" y="10"/>
                </a:lnTo>
                <a:lnTo>
                  <a:pt x="8" y="7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19200" y="4295775"/>
            <a:ext cx="3124200" cy="142875"/>
          </a:xfrm>
          <a:prstGeom prst="roundRect">
            <a:avLst>
              <a:gd name="adj" fmla="val 13333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28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09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1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52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3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4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95750" y="4305300"/>
            <a:ext cx="95250" cy="123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81100" y="4591050"/>
            <a:ext cx="3219450" cy="55245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304925" y="4895850"/>
            <a:ext cx="2952750" cy="114300"/>
          </a:xfrm>
          <a:prstGeom prst="rect">
            <a:avLst/>
          </a:prstGeom>
          <a:solidFill>
            <a:srgbClr val="BB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304925" y="4762500"/>
            <a:ext cx="2952750" cy="0"/>
          </a:xfrm>
          <a:prstGeom prst="line">
            <a:avLst/>
          </a:prstGeom>
          <a:ln w="14287">
            <a:solidFill>
              <a:srgbClr val="B66F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52750" y="3609975"/>
            <a:ext cx="0" cy="552449"/>
          </a:xfrm>
          <a:prstGeom prst="line">
            <a:avLst/>
          </a:prstGeom>
          <a:ln w="19050">
            <a:solidFill>
              <a:srgbClr val="5C9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2914650" y="40862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952750" y="4448175"/>
            <a:ext cx="0" cy="276225"/>
          </a:xfrm>
          <a:prstGeom prst="line">
            <a:avLst/>
          </a:prstGeom>
          <a:ln w="19050">
            <a:solidFill>
              <a:srgbClr val="5C9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914650" y="4648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4" y="8"/>
                </a:moveTo>
                <a:lnTo>
                  <a:pt x="0" y="0"/>
                </a:lnTo>
                <a:lnTo>
                  <a:pt x="8" y="0"/>
                </a:lnTo>
                <a:close/>
              </a:path>
            </a:pathLst>
          </a:custGeom>
          <a:solidFill>
            <a:srgbClr val="5C90AA"/>
          </a:solidFill>
          <a:ln w="9525">
            <a:solidFill>
              <a:srgbClr val="5C9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533900" y="4876800"/>
            <a:ext cx="1114425" cy="0"/>
          </a:xfrm>
          <a:prstGeom prst="line">
            <a:avLst/>
          </a:prstGeom>
          <a:ln w="28575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5572125" y="4838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B66F45"/>
          </a:solidFill>
          <a:ln w="9525">
            <a:solidFill>
              <a:srgbClr val="B66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24200" y="3609975"/>
            <a:ext cx="790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90AA"/>
                </a:solidFill>
                <a:latin typeface="Microsoft YaHei"/>
                <a:ea typeface="Microsoft YaHei"/>
              </a:rPr>
              <a:t>滴水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4850" y="5105400"/>
            <a:ext cx="145732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6F45"/>
                </a:solidFill>
                <a:latin typeface="Microsoft YaHei"/>
                <a:ea typeface="Microsoft YaHei"/>
              </a:rPr>
              <a:t>前向抽出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3500" y="5295900"/>
            <a:ext cx="412432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水路剖面示意（非工程剖面）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2725" y="1847850"/>
            <a:ext cx="479107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接水盘的初步容量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2725" y="2305050"/>
            <a:ext cx="4791075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内尺寸假设 540 × 220 × 20 mm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几何容积约 2.38 L；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建议工作水位暂按 1.5 L 标记，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为提取晃动与内部结构预留余量。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62725" y="3752850"/>
            <a:ext cx="5114925" cy="1504950"/>
          </a:xfrm>
          <a:prstGeom prst="roundRect">
            <a:avLst>
              <a:gd name="adj" fmla="val 7594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1800" y="3905249"/>
            <a:ext cx="441007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6F8976"/>
                </a:solidFill>
                <a:latin typeface="Microsoft YaHei"/>
                <a:ea typeface="Microsoft YaHei"/>
              </a:rPr>
              <a:t>维护动作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1800" y="4276725"/>
            <a:ext cx="4629150" cy="847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观察水位 → 解开止挡 → 双手抽取并提握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→ 到指定清洁点倾倒 → 擦洗 → 复位。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抽盘前确认无人取放，避免滴水落至空槽。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容量校核：10把伞×50mL/把=0.5L，仅为测试假设；真实滴水量、清理频率与积水异味风险需实测。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14 / INTERACTION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交互流程：学生三步，保洁一套动作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用结构和位置提示操作，不依赖扫码或屏幕。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38324"/>
            <a:ext cx="360045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2175510"/>
            <a:ext cx="182880" cy="182880"/>
          </a:xfrm>
          <a:prstGeom prst="ellipse">
            <a:avLst/>
          </a:prstGeom>
          <a:solidFill>
            <a:srgbClr val="687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828800" y="2419350"/>
            <a:ext cx="0" cy="411480"/>
          </a:xfrm>
          <a:prstGeom prst="line">
            <a:avLst/>
          </a:prstGeom>
          <a:ln w="6096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638300" y="2548890"/>
            <a:ext cx="190500" cy="213360"/>
          </a:xfrm>
          <a:prstGeom prst="line">
            <a:avLst/>
          </a:prstGeom>
          <a:ln w="3810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548890"/>
            <a:ext cx="182879" cy="175260"/>
          </a:xfrm>
          <a:prstGeom prst="line">
            <a:avLst/>
          </a:prstGeom>
          <a:ln w="3810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676400" y="2815590"/>
            <a:ext cx="152400" cy="327660"/>
          </a:xfrm>
          <a:prstGeom prst="line">
            <a:avLst/>
          </a:prstGeom>
          <a:ln w="4572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2815590"/>
            <a:ext cx="137160" cy="327660"/>
          </a:xfrm>
          <a:prstGeom prst="line">
            <a:avLst/>
          </a:prstGeom>
          <a:ln w="45720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514600" y="2752725"/>
            <a:ext cx="133350" cy="752475"/>
          </a:xfrm>
          <a:custGeom>
            <a:avLst/>
            <a:gdLst/>
            <a:ahLst/>
            <a:cxnLst/>
            <a:rect l="l" t="t" r="r" b="b"/>
            <a:pathLst>
              <a:path w="14" h="79">
                <a:moveTo>
                  <a:pt x="0" y="0"/>
                </a:moveTo>
                <a:lnTo>
                  <a:pt x="14" y="0"/>
                </a:lnTo>
                <a:lnTo>
                  <a:pt x="11" y="67"/>
                </a:lnTo>
                <a:lnTo>
                  <a:pt x="7" y="79"/>
                </a:lnTo>
                <a:lnTo>
                  <a:pt x="3" y="67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2581275" y="2590800"/>
            <a:ext cx="0" cy="161925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81275" y="2590800"/>
            <a:ext cx="95250" cy="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76525" y="2590800"/>
            <a:ext cx="0" cy="11430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3425" y="3790949"/>
            <a:ext cx="31718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01  收拢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210050"/>
            <a:ext cx="317182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在指定入口区域收好雨伞，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不要在室内甩伞。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5775" y="1838324"/>
            <a:ext cx="360045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95925" y="3625215"/>
            <a:ext cx="1314450" cy="175260"/>
          </a:xfrm>
          <a:prstGeom prst="roundRect">
            <a:avLst>
              <a:gd name="adj" fmla="val 10000"/>
            </a:avLst>
          </a:prstGeom>
          <a:solidFill>
            <a:srgbClr val="EEEDE6"/>
          </a:solidFill>
          <a:ln w="1714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30976" y="2266950"/>
            <a:ext cx="39433" cy="135826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35889" y="2266950"/>
            <a:ext cx="39433" cy="135826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0410" y="2354579"/>
            <a:ext cx="766762" cy="65722"/>
          </a:xfrm>
          <a:prstGeom prst="roundRect">
            <a:avLst>
              <a:gd name="adj" fmla="val 16666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98890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607653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01081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2" name="Oval 31"/>
          <p:cNvSpPr/>
          <p:nvPr/>
        </p:nvSpPr>
        <p:spPr>
          <a:xfrm>
            <a:off x="5719381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728144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21572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5" name="Oval 34"/>
          <p:cNvSpPr/>
          <p:nvPr/>
        </p:nvSpPr>
        <p:spPr>
          <a:xfrm>
            <a:off x="5839872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848635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42063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8" name="Oval 37"/>
          <p:cNvSpPr/>
          <p:nvPr/>
        </p:nvSpPr>
        <p:spPr>
          <a:xfrm>
            <a:off x="5960364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69126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62554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6080855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089618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083046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44" name="Oval 43"/>
          <p:cNvSpPr/>
          <p:nvPr/>
        </p:nvSpPr>
        <p:spPr>
          <a:xfrm>
            <a:off x="6201346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210109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03537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2225" y="2770822"/>
            <a:ext cx="350520" cy="306705"/>
          </a:xfrm>
          <a:prstGeom prst="roundRect">
            <a:avLst>
              <a:gd name="adj" fmla="val 3571"/>
            </a:avLst>
          </a:prstGeom>
          <a:solidFill>
            <a:srgbClr val="6F8976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547485" y="2770822"/>
            <a:ext cx="0" cy="306705"/>
          </a:xfrm>
          <a:prstGeom prst="line">
            <a:avLst/>
          </a:prstGeom>
          <a:ln w="9525">
            <a:solidFill>
              <a:srgbClr val="E4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399609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45615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91620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537626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83632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629638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675643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399609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45615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491620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537626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3632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629638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75643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99609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45615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1620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37626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583632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629638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675643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399609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45615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91620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37626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583632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629638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675643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530976" y="3664648"/>
            <a:ext cx="1244346" cy="102965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9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037040" y="3688746"/>
            <a:ext cx="232219" cy="43815"/>
          </a:xfrm>
          <a:prstGeom prst="roundRect">
            <a:avLst>
              <a:gd name="adj" fmla="val 25000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572601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675566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778531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881497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984462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087427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190392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293358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396323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99288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602253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05219" y="3636168"/>
            <a:ext cx="43814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35358" y="3791712"/>
            <a:ext cx="61341" cy="17526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6709600" y="3791712"/>
            <a:ext cx="61341" cy="17526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5076825" y="2667000"/>
            <a:ext cx="457200" cy="0"/>
          </a:xfrm>
          <a:prstGeom prst="line">
            <a:avLst/>
          </a:prstGeom>
          <a:ln w="28575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Freeform 93"/>
          <p:cNvSpPr/>
          <p:nvPr/>
        </p:nvSpPr>
        <p:spPr>
          <a:xfrm>
            <a:off x="5457825" y="2628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B66F45"/>
          </a:solidFill>
          <a:ln w="9525">
            <a:solidFill>
              <a:srgbClr val="B66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14850" y="3790949"/>
            <a:ext cx="31718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02  分区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14850" y="4210050"/>
            <a:ext cx="317182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长伞尖端落在承托区，再卡入限位；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短伞放入浅篮，保留伞柄可见。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077200" y="1838324"/>
            <a:ext cx="360045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53525" y="3625215"/>
            <a:ext cx="1314450" cy="175260"/>
          </a:xfrm>
          <a:prstGeom prst="roundRect">
            <a:avLst>
              <a:gd name="adj" fmla="val 10000"/>
            </a:avLst>
          </a:prstGeom>
          <a:solidFill>
            <a:srgbClr val="EEEDE6"/>
          </a:solidFill>
          <a:ln w="1714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188577" y="2266950"/>
            <a:ext cx="39433" cy="135826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393489" y="2266950"/>
            <a:ext cx="39433" cy="135826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228010" y="2354579"/>
            <a:ext cx="766762" cy="65722"/>
          </a:xfrm>
          <a:prstGeom prst="roundRect">
            <a:avLst>
              <a:gd name="adj" fmla="val 16666"/>
            </a:avLst>
          </a:prstGeom>
          <a:solidFill>
            <a:srgbClr val="6F8976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256490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9265253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258681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5" name="Oval 104"/>
          <p:cNvSpPr/>
          <p:nvPr/>
        </p:nvSpPr>
        <p:spPr>
          <a:xfrm>
            <a:off x="9376981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9385744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9379172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8" name="Oval 107"/>
          <p:cNvSpPr/>
          <p:nvPr/>
        </p:nvSpPr>
        <p:spPr>
          <a:xfrm>
            <a:off x="9497472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9506235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9499663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11" name="Oval 110"/>
          <p:cNvSpPr/>
          <p:nvPr/>
        </p:nvSpPr>
        <p:spPr>
          <a:xfrm>
            <a:off x="9617964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9626727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620154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14" name="Oval 113"/>
          <p:cNvSpPr/>
          <p:nvPr/>
        </p:nvSpPr>
        <p:spPr>
          <a:xfrm>
            <a:off x="9738455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9747218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9740646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17" name="Oval 116"/>
          <p:cNvSpPr/>
          <p:nvPr/>
        </p:nvSpPr>
        <p:spPr>
          <a:xfrm>
            <a:off x="9858946" y="2363343"/>
            <a:ext cx="48196" cy="48196"/>
          </a:xfrm>
          <a:prstGeom prst="ellipse">
            <a:avLst/>
          </a:prstGeom>
          <a:solidFill>
            <a:srgbClr val="F5F3EC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9867709" y="2411539"/>
            <a:ext cx="0" cy="13145"/>
          </a:xfrm>
          <a:prstGeom prst="line">
            <a:avLst/>
          </a:prstGeom>
          <a:ln w="8763">
            <a:solidFill>
              <a:srgbClr val="F5F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861137" y="2444400"/>
            <a:ext cx="83343" cy="1079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"/>
              </a:lnSpc>
              <a:spcBef>
                <a:spcPts val="0"/>
              </a:spcBef>
              <a:spcAft>
                <a:spcPts val="0"/>
              </a:spcAft>
            </a:pPr>
            <a:r>
              <a:rPr sz="172" b="0">
                <a:solidFill>
                  <a:srgbClr val="68766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0029825" y="2770822"/>
            <a:ext cx="350520" cy="306705"/>
          </a:xfrm>
          <a:prstGeom prst="roundRect">
            <a:avLst>
              <a:gd name="adj" fmla="val 3571"/>
            </a:avLst>
          </a:prstGeom>
          <a:solidFill>
            <a:srgbClr val="6F8976"/>
          </a:solidFill>
          <a:ln w="14287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10205085" y="2770822"/>
            <a:ext cx="0" cy="306705"/>
          </a:xfrm>
          <a:prstGeom prst="line">
            <a:avLst/>
          </a:prstGeom>
          <a:ln w="9525">
            <a:solidFill>
              <a:srgbClr val="E4E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10057209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103215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149220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195226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241232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287238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333243" y="2837640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057209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103215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149220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0195226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241232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0287238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333243" y="2888027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0057209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103215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149220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195226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241232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287238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333243" y="2938414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57209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103215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149220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195226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241232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287238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333243" y="2988802"/>
            <a:ext cx="10953" cy="10953"/>
          </a:xfrm>
          <a:prstGeom prst="ellipse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188577" y="3664648"/>
            <a:ext cx="1244346" cy="102965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9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694640" y="3688746"/>
            <a:ext cx="232219" cy="43815"/>
          </a:xfrm>
          <a:prstGeom prst="roundRect">
            <a:avLst>
              <a:gd name="adj" fmla="val 25000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9230201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333166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436131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539097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642062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745027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847992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950958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53923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156888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259853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362819" y="3636168"/>
            <a:ext cx="43815" cy="0"/>
          </a:xfrm>
          <a:prstGeom prst="line">
            <a:avLst/>
          </a:prstGeom>
          <a:ln w="4381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9192958" y="3791712"/>
            <a:ext cx="61341" cy="17526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10367200" y="3791712"/>
            <a:ext cx="61341" cy="17526"/>
          </a:xfrm>
          <a:prstGeom prst="roundRect">
            <a:avLst>
              <a:gd name="adj" fmla="val 37500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10220325" y="2733675"/>
            <a:ext cx="504825" cy="0"/>
          </a:xfrm>
          <a:prstGeom prst="line">
            <a:avLst/>
          </a:prstGeom>
          <a:ln w="28575">
            <a:solidFill>
              <a:srgbClr val="B66F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Freeform 166"/>
          <p:cNvSpPr/>
          <p:nvPr/>
        </p:nvSpPr>
        <p:spPr>
          <a:xfrm>
            <a:off x="10648950" y="26955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B66F45"/>
          </a:solidFill>
          <a:ln w="9525">
            <a:solidFill>
              <a:srgbClr val="B66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296274" y="3790949"/>
            <a:ext cx="31718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03  取回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296274" y="4210050"/>
            <a:ext cx="317182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记住编号并辨认伞柄，</a:t>
            </a:r>
          </a:p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沿正面方向取出。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14350" y="5200650"/>
            <a:ext cx="11163300" cy="609600"/>
          </a:xfrm>
          <a:prstGeom prst="roundRect">
            <a:avLst>
              <a:gd name="adj" fmla="val 15625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23900" y="5381625"/>
            <a:ext cx="107727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异常处理：满位 → 指向邻近存伞点；盘满 → 停用并通知保洁；卡口过紧 → 更换嵌件，不强行拉拽。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编号采用高对比文字，颜色只作辅助。每个模块设独立编号段，如A01–A10、B01–B10。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15 / CMF &amp; ERGONOMICS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造型、材料与人机：安静融入校园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以暖白框架和鼠尾草绿交互部件区分“结构”与“可操作位置”。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28800"/>
            <a:ext cx="2057400" cy="942975"/>
          </a:xfrm>
          <a:prstGeom prst="roundRect">
            <a:avLst>
              <a:gd name="adj" fmla="val 12121"/>
            </a:avLst>
          </a:prstGeom>
          <a:solidFill>
            <a:srgbClr val="EE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" y="2952750"/>
            <a:ext cx="212407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23C36"/>
                </a:solidFill>
                <a:latin typeface="Microsoft YaHei"/>
                <a:ea typeface="Microsoft YaHei"/>
              </a:rPr>
              <a:t>暖白 / 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3295650"/>
            <a:ext cx="2124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粉末涂层；易观察污渍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1300" y="1828800"/>
            <a:ext cx="2057400" cy="942975"/>
          </a:xfrm>
          <a:prstGeom prst="roundRect">
            <a:avLst>
              <a:gd name="adj" fmla="val 12121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1300" y="2952750"/>
            <a:ext cx="212407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23C36"/>
                </a:solidFill>
                <a:latin typeface="Microsoft YaHei"/>
                <a:ea typeface="Microsoft YaHei"/>
              </a:rPr>
              <a:t>灰绿 / 接触件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1300" y="3295650"/>
            <a:ext cx="2124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卡条、浅篮与抽盘握位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8250" y="1828800"/>
            <a:ext cx="2057400" cy="942975"/>
          </a:xfrm>
          <a:prstGeom prst="roundRect">
            <a:avLst>
              <a:gd name="adj" fmla="val 12121"/>
            </a:avLst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8250" y="2952750"/>
            <a:ext cx="212407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223C36"/>
                </a:solidFill>
                <a:latin typeface="Microsoft YaHei"/>
                <a:ea typeface="Microsoft YaHei"/>
              </a:rPr>
              <a:t>深灰绿 / 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250" y="3295650"/>
            <a:ext cx="2124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68766F"/>
                </a:solidFill>
                <a:latin typeface="Microsoft YaHei"/>
                <a:ea typeface="Microsoft YaHei"/>
              </a:rPr>
              <a:t>编号与简短使用提示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" y="3876674"/>
            <a:ext cx="65913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" y="4076699"/>
            <a:ext cx="6029325" cy="380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23C36"/>
                </a:solidFill>
                <a:latin typeface="Microsoft YaHei"/>
                <a:ea typeface="Microsoft YaHei"/>
              </a:rPr>
              <a:t>制造与维护策略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486275"/>
            <a:ext cx="6029325" cy="899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框架优先折弯与标准紧固件；湿区避免难擦的窄缝。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柔性件和短伞篮可单独更换，减少整机报废。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打样先验证功能，量产再评估PP注塑与模具成本。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9975" y="1828800"/>
            <a:ext cx="4257675" cy="3810000"/>
          </a:xfrm>
          <a:prstGeom prst="roundRect">
            <a:avLst>
              <a:gd name="adj" fmla="val 3000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7624" y="2076450"/>
            <a:ext cx="3790949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人机检查点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7624" y="2571750"/>
            <a:ext cx="3790949" cy="2320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• 短伞柄应外露，避免深掏。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• 软卡口需要湿手单手试用。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• 抽盘握边要能双手提取。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• 接触边缘圆滑，避免夹手锐边。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• 兼顾不同身高与坐姿触及。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650/470mm的操作高度为初始假设，</a:t>
            </a:r>
          </a:p>
          <a:p>
            <a:pPr algn="l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通过1:1模型测试后再确定。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材料牌号、涂层耐蚀性、圆角及壁厚未冻结；并无已完成的人体工学或耐久性认证。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16 / PLACEMENT &amp; CAPACITY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空间布置：模块数量由峰值决定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靠墙不等于可以占用疏散空间；先选不干涉门扇、通行与清洁的点位。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819275"/>
            <a:ext cx="6381750" cy="3228975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38200" y="2257425"/>
            <a:ext cx="5743575" cy="0"/>
          </a:xfrm>
          <a:prstGeom prst="line">
            <a:avLst/>
          </a:prstGeom>
          <a:ln w="38100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8200" y="4495800"/>
            <a:ext cx="5743575" cy="0"/>
          </a:xfrm>
          <a:prstGeom prst="line">
            <a:avLst/>
          </a:prstGeom>
          <a:ln w="28575">
            <a:solidFill>
              <a:srgbClr val="223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09675" y="2305050"/>
            <a:ext cx="1714500" cy="800100"/>
          </a:xfrm>
          <a:prstGeom prst="roundRect">
            <a:avLst>
              <a:gd name="adj" fmla="val 4761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62275" y="2305050"/>
            <a:ext cx="1714500" cy="800100"/>
          </a:xfrm>
          <a:prstGeom prst="roundRect">
            <a:avLst>
              <a:gd name="adj" fmla="val 4761"/>
            </a:avLst>
          </a:prstGeom>
          <a:solidFill>
            <a:srgbClr val="E4EADF"/>
          </a:solidFill>
          <a:ln w="9525">
            <a:solidFill>
              <a:srgbClr val="22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3025" y="2552700"/>
            <a:ext cx="145732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模块A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150" y="2552700"/>
            <a:ext cx="1457325" cy="3386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模块B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9675" y="3105150"/>
            <a:ext cx="3467100" cy="838200"/>
          </a:xfrm>
          <a:prstGeom prst="rect">
            <a:avLst/>
          </a:prstGeom>
          <a:solidFill>
            <a:srgbClr val="F2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6850" y="3362325"/>
            <a:ext cx="33147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66F45"/>
                </a:solidFill>
                <a:latin typeface="Microsoft YaHei"/>
                <a:ea typeface="Microsoft YaHei"/>
              </a:rPr>
              <a:t>前方操作区（暂按500mm试验）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4425" y="4210050"/>
            <a:ext cx="5048250" cy="0"/>
          </a:xfrm>
          <a:prstGeom prst="line">
            <a:avLst/>
          </a:prstGeom>
          <a:ln w="28575">
            <a:solidFill>
              <a:srgbClr val="6F89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6086475" y="4171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8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6F8976"/>
          </a:solidFill>
          <a:ln w="9525">
            <a:solidFill>
              <a:srgbClr val="6F89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4750" y="4552950"/>
            <a:ext cx="240982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走廊另一侧边界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49" y="1952624"/>
            <a:ext cx="336232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墙面 / 核实后部固定点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57925" y="2257425"/>
            <a:ext cx="0" cy="2238375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00775" y="2257425"/>
            <a:ext cx="11430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00775" y="4495800"/>
            <a:ext cx="114300" cy="0"/>
          </a:xfrm>
          <a:prstGeom prst="line">
            <a:avLst/>
          </a:prstGeom>
          <a:ln w="9525">
            <a:solidFill>
              <a:srgbClr val="6876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96025" y="3343275"/>
            <a:ext cx="981075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8766F"/>
                </a:solidFill>
                <a:latin typeface="Microsoft YaHei"/>
                <a:ea typeface="Microsoft YaHei"/>
              </a:rPr>
              <a:t>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" y="5219700"/>
            <a:ext cx="6381750" cy="628650"/>
          </a:xfrm>
          <a:prstGeom prst="roundRect">
            <a:avLst>
              <a:gd name="adj" fmla="val 12121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375" y="5362575"/>
            <a:ext cx="598170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静态剩余宽度 = 实测走廊宽 W − 280 − 后墙间隙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还需核查人员停留、门扇开启和接水盘抽出时的占用。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8050" y="1847850"/>
            <a:ext cx="441007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23C36"/>
                </a:solidFill>
                <a:latin typeface="Microsoft YaHei"/>
                <a:ea typeface="Microsoft YaHei"/>
              </a:rPr>
              <a:t>容量推演（情境假设）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2305050"/>
            <a:ext cx="4410075" cy="990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若40人教室的存伞峰值为20把：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其中长伞12把、折叠伞8把，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8766F"/>
                </a:solidFill>
                <a:latin typeface="Microsoft YaHei"/>
                <a:ea typeface="Microsoft YaHei"/>
              </a:rPr>
              <a:t>需2个模块，沿墙长度约1200mm。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58050" y="3543300"/>
            <a:ext cx="44196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6174" y="3733799"/>
            <a:ext cx="40100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223C36"/>
                </a:solidFill>
                <a:latin typeface="Microsoft YaHei"/>
                <a:ea typeface="Microsoft YaHei"/>
              </a:rPr>
              <a:t>模块数 = max(⌈长伞数/6⌉, ⌈短伞数/4⌉)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6174" y="4171950"/>
            <a:ext cx="3962399" cy="8048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固定配比可能造成空位错配。</a:t>
            </a:r>
          </a:p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若折叠伞占比明显更高，应先修改分区配比，</a:t>
            </a:r>
          </a:p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不靠无限增加模块补偿。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图中W、墙后间隙及操作区均须现场测量；是否满足疏散与无障碍要求由校方及专业人员核查。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17 / PROTOTYPE &amp; COST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打样与成本：先做一台可验证模型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功能样机以常规加工和可替换部件为主；以下为设计预算占位，非供应商报价。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1809750"/>
            <a:ext cx="2750820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905000"/>
            <a:ext cx="255079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5170" y="1809750"/>
            <a:ext cx="2606039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9470" y="1905000"/>
            <a:ext cx="2406014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样机工艺 / 数量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1210" y="1809750"/>
            <a:ext cx="1882139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5510" y="1905000"/>
            <a:ext cx="168211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估算（元）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350" y="2219325"/>
            <a:ext cx="275082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" y="2324100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框架与底座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5170" y="2219325"/>
            <a:ext cx="26060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9470" y="2324100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折弯钣金、表面处理 ×1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1210" y="2219325"/>
            <a:ext cx="18821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5510" y="2324100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220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350" y="2705100"/>
            <a:ext cx="2750820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650" y="2809875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柔性限位卡条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5170" y="2705100"/>
            <a:ext cx="26060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9470" y="2809875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硅胶/柔性打印 ×1组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71210" y="2705100"/>
            <a:ext cx="18821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5510" y="2809875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4350" y="3190875"/>
            <a:ext cx="275082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650" y="3295650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短伞篮与分隔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65170" y="3190875"/>
            <a:ext cx="26060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79470" y="3295650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穿孔板/打印 ×1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71210" y="3190875"/>
            <a:ext cx="18821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5510" y="3295650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65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350" y="3676649"/>
            <a:ext cx="2750820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781425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格栅 + 接水盘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65170" y="3676649"/>
            <a:ext cx="26060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9470" y="3781425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切割加工 + 成品盘改制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71210" y="3676649"/>
            <a:ext cx="18821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5510" y="3781425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350" y="4162424"/>
            <a:ext cx="275082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0" y="4267200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脚垫、连接与标识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65170" y="4162424"/>
            <a:ext cx="26060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79470" y="4267200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螺栓、防倾倒件、贴标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1210" y="4162424"/>
            <a:ext cx="18821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5510" y="4267200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4350" y="4648200"/>
            <a:ext cx="2750820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650" y="4752975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组装与调试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5170" y="4648200"/>
            <a:ext cx="26060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9470" y="4752975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单台小批工时暂估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71210" y="4648200"/>
            <a:ext cx="1882139" cy="485775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5510" y="4752975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90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350" y="5133975"/>
            <a:ext cx="2750820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650" y="5238750"/>
            <a:ext cx="255079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小计 + 预备费用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65170" y="5133975"/>
            <a:ext cx="26060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79470" y="5238750"/>
            <a:ext cx="2406014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600 + 15%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1210" y="5133975"/>
            <a:ext cx="1882139" cy="485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5510" y="5238750"/>
            <a:ext cx="1682115" cy="2867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690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67674" y="1809750"/>
            <a:ext cx="3609975" cy="3810000"/>
          </a:xfrm>
          <a:prstGeom prst="roundRect">
            <a:avLst>
              <a:gd name="adj" fmla="val 3166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96274" y="2038349"/>
            <a:ext cx="3162300" cy="43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23C36"/>
                </a:solidFill>
                <a:latin typeface="Microsoft YaHei"/>
                <a:ea typeface="Microsoft YaHei"/>
              </a:rPr>
              <a:t>两级模型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96274" y="2533650"/>
            <a:ext cx="316230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① 形态模型</a:t>
            </a: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纸板/泡沫，1:1验证占地、</a:t>
            </a: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存取姿势与高峰干涉。</a:t>
            </a: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② 功能样机</a:t>
            </a: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验证卡口、滴水路径、</a:t>
            </a:r>
          </a:p>
          <a:p>
            <a:pPr algn="l">
              <a:lnSpc>
                <a:spcPts val="228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223C36"/>
                </a:solidFill>
                <a:latin typeface="Microsoft YaHei"/>
                <a:ea typeface="Microsoft YaHei"/>
              </a:rPr>
              <a:t>接水盘倾倒及结构稳定。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690元不含运输、外协最低订单、模具及正式检测；立项前至少取得两家加工报价。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18 / VALIDATION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验证计划：用试验决定下一版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下列均为拟定测试与通过目标，尚无实测结果；失败应记录原因并修改结构。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4350" y="1790700"/>
            <a:ext cx="1786128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" y="1885950"/>
            <a:ext cx="1586103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0478" y="1790700"/>
            <a:ext cx="4465320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4778" y="1885950"/>
            <a:ext cx="426529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拟定方法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5798" y="1790700"/>
            <a:ext cx="3795522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0098" y="1885950"/>
            <a:ext cx="3595497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初步通过目标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61320" y="1790700"/>
            <a:ext cx="1116330" cy="409575"/>
          </a:xfrm>
          <a:prstGeom prst="rect">
            <a:avLst/>
          </a:prstGeom>
          <a:solidFill>
            <a:srgbClr val="22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75620" y="1885950"/>
            <a:ext cx="91630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4350" y="2200275"/>
            <a:ext cx="1786128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650" y="2305050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存取适配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0478" y="2200275"/>
            <a:ext cx="446532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778" y="2305050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≥12把长短伞；10名学生首次试用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5798" y="2200275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098" y="2305050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≥8/10人无需解释；记录失败伞型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61320" y="2200275"/>
            <a:ext cx="111633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75620" y="2305050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350" y="2809875"/>
            <a:ext cx="1786128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650" y="2914650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水路与盘容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0478" y="2809875"/>
            <a:ext cx="446532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14778" y="2914650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10处各滴50mL；量杯校准水位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5798" y="2809875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098" y="2914650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承水区外无明显漏水；1.5L标记准确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20" y="2809875"/>
            <a:ext cx="111633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75620" y="2914650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350" y="3419475"/>
            <a:ext cx="1786128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650" y="3524250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清理与洒水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00478" y="3419475"/>
            <a:ext cx="446532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14778" y="3524250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2位保洁各操作3次；1.5L水位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5798" y="3419475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0098" y="3524250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抽取、倾倒、复位≤60秒，无明显洒水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61320" y="3419475"/>
            <a:ext cx="111633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75620" y="3524250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4350" y="4029075"/>
            <a:ext cx="1786128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650" y="4133849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稳定与连接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0478" y="4029075"/>
            <a:ext cx="446532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14778" y="4133849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空载/满载；四向15N初筛并逐步评估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5798" y="4029075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80098" y="4133849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不倾倒、无连接松脱；方法由专业人员复核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61320" y="4029075"/>
            <a:ext cx="111633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75620" y="4133849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4350" y="4638675"/>
            <a:ext cx="1786128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650" y="4743450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高峰干涉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0478" y="4638675"/>
            <a:ext cx="446532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14778" y="4743450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2模块，5人轮流并交叉存取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5798" y="4638675"/>
            <a:ext cx="3795522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80098" y="4743450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无明显夹手、碰撞；记录排队与占道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61320" y="4638675"/>
            <a:ext cx="1116330" cy="6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75620" y="4743450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4350" y="5248275"/>
            <a:ext cx="1786128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8650" y="5353050"/>
            <a:ext cx="158610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耐用与卫生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00478" y="5248275"/>
            <a:ext cx="446532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414778" y="5353050"/>
            <a:ext cx="426529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卡口/盘体各200次操作；雨后巡检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5798" y="5248275"/>
            <a:ext cx="3795522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0098" y="5353050"/>
            <a:ext cx="3595497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无破损松脱；无难清积水与明显异味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561320" y="5248275"/>
            <a:ext cx="1116330" cy="609600"/>
          </a:xfrm>
          <a:prstGeom prst="rect">
            <a:avLst/>
          </a:prstGeom>
          <a:solidFill>
            <a:srgbClr val="E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75620" y="5353050"/>
            <a:ext cx="91630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待测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15N与200次仅为课程原型筛查，不等于公共设施安全认证或寿命结论；投入使用前须补充工程验证。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19 / 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推进计划：从概念到可评审的初样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按四周课程节奏安排；当前完成概念方案，现场调研、CAD和实物测试仍待开展。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90700"/>
            <a:ext cx="111633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350" y="1790700"/>
            <a:ext cx="876300" cy="857250"/>
          </a:xfrm>
          <a:prstGeom prst="roundRect">
            <a:avLst>
              <a:gd name="adj" fmla="val 11111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225" y="2057400"/>
            <a:ext cx="6191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25" y="1952624"/>
            <a:ext cx="1838324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采集证据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725" y="1962150"/>
            <a:ext cx="76485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拍摄场景、访谈、测量伞具与点位。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4725" y="2276475"/>
            <a:ext cx="7648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输出：问题照片、台账、需求修订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4350" y="2790825"/>
            <a:ext cx="111633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4350" y="2790825"/>
            <a:ext cx="876300" cy="857250"/>
          </a:xfrm>
          <a:prstGeom prst="roundRect">
            <a:avLst>
              <a:gd name="adj" fmla="val 11111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25" y="3057525"/>
            <a:ext cx="6191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9725" y="2952750"/>
            <a:ext cx="1838324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建立模型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4725" y="2962275"/>
            <a:ext cx="76485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完成结构CAD，纸板1:1验证操作。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725" y="3276600"/>
            <a:ext cx="7648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输出：三视图、连接细节、尺寸修订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4350" y="3790949"/>
            <a:ext cx="111633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4350" y="3790949"/>
            <a:ext cx="876300" cy="857250"/>
          </a:xfrm>
          <a:prstGeom prst="roundRect">
            <a:avLst>
              <a:gd name="adj" fmla="val 11111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225" y="4057650"/>
            <a:ext cx="6191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9725" y="3952875"/>
            <a:ext cx="1838324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制作初样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4725" y="3962399"/>
            <a:ext cx="76485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加工组装，完成水路与存取测试。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4725" y="4276725"/>
            <a:ext cx="7648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输出：功能样机、BOM、测试记录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4350" y="4791075"/>
            <a:ext cx="1116330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4350" y="4791075"/>
            <a:ext cx="876300" cy="857250"/>
          </a:xfrm>
          <a:prstGeom prst="roundRect">
            <a:avLst>
              <a:gd name="adj" fmla="val 11111"/>
            </a:avLst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225" y="5057775"/>
            <a:ext cx="619125" cy="421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9725" y="4953000"/>
            <a:ext cx="1838324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修正呈现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4725" y="4962525"/>
            <a:ext cx="7648575" cy="3248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处理失败项，更新造型与汇报材料。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14725" y="5276850"/>
            <a:ext cx="7648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输出：终版展板、模型照、设计说明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深化优先顺序：伞具适配与水路 → 连接稳定与空间占用 → CMF与量产细节。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20 / FIELDWORK KIT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调研附件：可直接带到现场使用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建议打印本页；保持原始记录与照片编号对应，不提前填写调查结果。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90700"/>
            <a:ext cx="5257800" cy="40386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425" y="1990725"/>
            <a:ext cx="4857750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学生访谈提纲（约5分钟）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457450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1. 你通常把湿伞放在哪里？为什么？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876550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2. 最困扰你的是什么：滴水、倒伏、拿错或其他？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295650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3. 你愿意把伞留在教室外吗？担心什么？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14750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4. 收合后的伞长、最宽处与伞柄形态是什么？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133849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5. 试用模型：哪里不知道怎么操作或不舒服？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552950"/>
            <a:ext cx="4848225" cy="31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8766F"/>
                </a:solidFill>
                <a:latin typeface="Microsoft YaHei"/>
                <a:ea typeface="Microsoft YaHei"/>
              </a:rPr>
              <a:t>6. 如果满位，你希望如何处理？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5172075"/>
            <a:ext cx="4791075" cy="6248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记录：受访编号____  伞型____  同意记录□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23C36"/>
                </a:solidFill>
                <a:latin typeface="Microsoft YaHei"/>
                <a:ea typeface="Microsoft YaHei"/>
              </a:rPr>
              <a:t>关键原话________________________________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750" y="1790700"/>
            <a:ext cx="5676900" cy="4038600"/>
          </a:xfrm>
          <a:prstGeom prst="roundRect">
            <a:avLst>
              <a:gd name="adj" fmla="val 2830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9350" y="1990725"/>
            <a:ext cx="51720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观察与保洁记录表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350" y="2457450"/>
            <a:ext cx="5172075" cy="1704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地点____  日期____  时段____  天气____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照片编号____  走廊宽____  门扇范围____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每5分钟：长伞数____ / 短伞数____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靠墙____  地面____  自带入室____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滴水范围____  倒伏次数____  取放耗时____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29350" y="4238625"/>
            <a:ext cx="5219700" cy="0"/>
          </a:xfrm>
          <a:prstGeom prst="line">
            <a:avLst/>
          </a:prstGeom>
          <a:ln w="9525">
            <a:solidFill>
              <a:srgbClr val="C8D1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29350" y="4438650"/>
            <a:ext cx="5172075" cy="95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询问保洁：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平时多久清理一次？在哪里倒水？</a:t>
            </a:r>
          </a:p>
          <a:p>
            <a:pPr algn="l">
              <a:lnSpc>
                <a:spcPts val="229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23C36"/>
                </a:solidFill>
                <a:latin typeface="Microsoft YaHei"/>
                <a:ea typeface="Microsoft YaHei"/>
              </a:rPr>
              <a:t>抽盘重量和高度是否合适？最难清哪里？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采样避免只选同一班级或一种伞型；以匿名编号记录，不采集姓名、学号或联系方式。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238125"/>
            <a:ext cx="10506075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23C36"/>
                </a:solidFill>
                <a:latin typeface="Microsoft YaHei"/>
                <a:ea typeface="Microsoft YaHei"/>
              </a:rPr>
              <a:t>YUTING  /  雨停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58250" y="257175"/>
            <a:ext cx="2838450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21 / EVIDENCE &amp; NEXT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4350" y="5619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4350" y="781050"/>
            <a:ext cx="11268075" cy="5457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23C36"/>
                </a:solidFill>
                <a:latin typeface="Microsoft YaHei"/>
                <a:ea typeface="Microsoft YaHei"/>
              </a:rPr>
              <a:t>方案状态、资料依据与下一步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85875"/>
            <a:ext cx="1107757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66F"/>
                </a:solidFill>
                <a:latin typeface="Microsoft YaHei"/>
                <a:ea typeface="Microsoft YaHei"/>
              </a:rPr>
              <a:t>这是一份可用于选题评审与深化讨论的初期设计方案，不是生产定稿或调研成果报告。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4350" y="6429375"/>
            <a:ext cx="11163300" cy="0"/>
          </a:xfrm>
          <a:prstGeom prst="line">
            <a:avLst/>
          </a:prstGeom>
          <a:ln w="9525">
            <a:solidFill>
              <a:srgbClr val="D9D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350" y="6543675"/>
            <a:ext cx="10506075" cy="241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30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8766F"/>
                </a:solidFill>
                <a:latin typeface="Microsoft YaHei"/>
                <a:ea typeface="Microsoft YaHei"/>
              </a:rPr>
              <a:t>校园公共设施产品设计  ·  初期概念方案 V1.0  ·  2026.10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15100"/>
            <a:ext cx="647700" cy="269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23C36"/>
                </a:solidFill>
                <a:latin typeface="Microsoft YaHei"/>
                <a:ea typeface="Microsoft YaHei"/>
              </a:rPr>
              <a:t>22 / 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350" y="1781175"/>
            <a:ext cx="5353050" cy="2943225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950" y="1990725"/>
            <a:ext cx="4886325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已明确 / 尚待验证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466975"/>
            <a:ext cx="4886325" cy="1936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已明确：校园雨天走廊存伞的问题方向；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长短伞分区、集中接水与可清洁的产品架构。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待验证：真实峰值、伞型比例、使用意愿、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卡口适配、维护频率、稳定与空间合规。</a:t>
            </a: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209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8766F"/>
                </a:solidFill>
                <a:latin typeface="Microsoft YaHei"/>
                <a:ea typeface="Microsoft YaHei"/>
              </a:rPr>
              <a:t>所有尺寸、容量、成本与评分均为初步假设。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5050" y="1781175"/>
            <a:ext cx="5562600" cy="2943225"/>
          </a:xfrm>
          <a:prstGeom prst="roundRect">
            <a:avLst>
              <a:gd name="adj" fmla="val 3883"/>
            </a:avLst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3650" y="1990725"/>
            <a:ext cx="5095875" cy="4076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C36"/>
                </a:solidFill>
                <a:latin typeface="Microsoft YaHei"/>
                <a:ea typeface="Microsoft YaHei"/>
              </a:rPr>
              <a:t>资料依据与图像说明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3650" y="2466975"/>
            <a:ext cx="5095875" cy="1833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需求来源：本次对话中用户的场景与专业说明。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分析与图示：本方案自主整理及绘制。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效果图：AI辅助生成，表达造型，不作性能证据。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调研状态：未开展现场调研，未引用虚构数据。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规范核查线索：GB 55037—2022（防火）、</a:t>
            </a:r>
          </a:p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223C36"/>
                </a:solidFill>
                <a:latin typeface="Microsoft YaHei"/>
                <a:ea typeface="Microsoft YaHei"/>
              </a:rPr>
              <a:t>GB 55019—2021（无障碍）；未做条文合规审查。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4953000"/>
            <a:ext cx="10506075" cy="3938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223C36"/>
                </a:solidFill>
                <a:latin typeface="Microsoft YaHei"/>
                <a:ea typeface="Microsoft YaHei"/>
              </a:rPr>
              <a:t>下一步最值得完成的三件事</a:t>
            </a:r>
          </a:p>
        </p:txBody>
      </p:sp>
      <p:sp>
        <p:nvSpPr>
          <p:cNvPr id="18" name="Oval 17"/>
          <p:cNvSpPr/>
          <p:nvPr/>
        </p:nvSpPr>
        <p:spPr>
          <a:xfrm>
            <a:off x="542925" y="5372100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5429250"/>
            <a:ext cx="24764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5429250"/>
            <a:ext cx="3171825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3C36"/>
                </a:solidFill>
                <a:latin typeface="Microsoft YaHei"/>
                <a:ea typeface="Microsoft YaHei"/>
              </a:rPr>
              <a:t>拍一处雨天走廊现场</a:t>
            </a:r>
          </a:p>
        </p:txBody>
      </p:sp>
      <p:sp>
        <p:nvSpPr>
          <p:cNvPr id="21" name="Oval 20"/>
          <p:cNvSpPr/>
          <p:nvPr/>
        </p:nvSpPr>
        <p:spPr>
          <a:xfrm>
            <a:off x="4333875" y="5372100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0550" y="5429250"/>
            <a:ext cx="24764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075" y="5429250"/>
            <a:ext cx="3171825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3C36"/>
                </a:solidFill>
                <a:latin typeface="Microsoft YaHei"/>
                <a:ea typeface="Microsoft YaHei"/>
              </a:rPr>
              <a:t>实测12把不同雨伞</a:t>
            </a:r>
          </a:p>
        </p:txBody>
      </p:sp>
      <p:sp>
        <p:nvSpPr>
          <p:cNvPr id="24" name="Oval 23"/>
          <p:cNvSpPr/>
          <p:nvPr/>
        </p:nvSpPr>
        <p:spPr>
          <a:xfrm>
            <a:off x="8124824" y="5372100"/>
            <a:ext cx="342900" cy="342900"/>
          </a:xfrm>
          <a:prstGeom prst="ellipse">
            <a:avLst/>
          </a:prstGeom>
          <a:solidFill>
            <a:srgbClr val="6F8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500" y="5429250"/>
            <a:ext cx="247649" cy="283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31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2025" y="5429250"/>
            <a:ext cx="3171825" cy="3524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23C36"/>
                </a:solidFill>
                <a:latin typeface="Microsoft YaHei"/>
                <a:ea typeface="Microsoft YaHei"/>
              </a:rPr>
              <a:t>做一个1:1纸板模型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048375"/>
            <a:ext cx="11077575" cy="2557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13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8766F"/>
                </a:solidFill>
                <a:latin typeface="Microsoft YaHei"/>
                <a:ea typeface="Microsoft YaHei"/>
              </a:rPr>
              <a:t>规范可通过国家标准全文公开系统等官方渠道核查：https://openstd.samr.gov.cn/bzgk/gb/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雨停｜校园走廊雨伞收纳与沥水装置</dc:title>
  <dc:subject>工业设计实训初期方案</dc:subject>
  <dc:creator>工业设计实训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